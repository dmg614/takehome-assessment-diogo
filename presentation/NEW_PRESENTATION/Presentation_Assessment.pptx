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329" r:id="rId5"/>
    <p:sldId id="336" r:id="rId6"/>
    <p:sldId id="337" r:id="rId7"/>
    <p:sldId id="338" r:id="rId8"/>
    <p:sldId id="339" r:id="rId9"/>
    <p:sldId id="363" r:id="rId10"/>
    <p:sldId id="364" r:id="rId11"/>
    <p:sldId id="341" r:id="rId12"/>
    <p:sldId id="342" r:id="rId13"/>
    <p:sldId id="365" r:id="rId14"/>
    <p:sldId id="343" r:id="rId15"/>
    <p:sldId id="366" r:id="rId16"/>
    <p:sldId id="345" r:id="rId17"/>
    <p:sldId id="344" r:id="rId18"/>
    <p:sldId id="367" r:id="rId19"/>
    <p:sldId id="353" r:id="rId20"/>
    <p:sldId id="354" r:id="rId21"/>
    <p:sldId id="355" r:id="rId22"/>
    <p:sldId id="347" r:id="rId23"/>
    <p:sldId id="348" r:id="rId24"/>
    <p:sldId id="349" r:id="rId25"/>
    <p:sldId id="350" r:id="rId26"/>
    <p:sldId id="351" r:id="rId27"/>
    <p:sldId id="352" r:id="rId28"/>
    <p:sldId id="356" r:id="rId29"/>
    <p:sldId id="358" r:id="rId30"/>
    <p:sldId id="359" r:id="rId31"/>
    <p:sldId id="360" r:id="rId32"/>
    <p:sldId id="361" r:id="rId33"/>
    <p:sldId id="362" r:id="rId34"/>
    <p:sldId id="32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07129AF4-07D9-44BD-9E86-39468B9DBA7F}">
          <p14:sldIdLst>
            <p14:sldId id="256"/>
            <p14:sldId id="257"/>
            <p14:sldId id="258"/>
            <p14:sldId id="329"/>
            <p14:sldId id="336"/>
            <p14:sldId id="337"/>
            <p14:sldId id="338"/>
            <p14:sldId id="339"/>
            <p14:sldId id="363"/>
            <p14:sldId id="364"/>
            <p14:sldId id="341"/>
            <p14:sldId id="342"/>
            <p14:sldId id="365"/>
            <p14:sldId id="343"/>
            <p14:sldId id="366"/>
            <p14:sldId id="345"/>
            <p14:sldId id="344"/>
            <p14:sldId id="367"/>
            <p14:sldId id="353"/>
            <p14:sldId id="354"/>
            <p14:sldId id="355"/>
            <p14:sldId id="347"/>
            <p14:sldId id="348"/>
            <p14:sldId id="349"/>
            <p14:sldId id="350"/>
            <p14:sldId id="351"/>
            <p14:sldId id="352"/>
            <p14:sldId id="356"/>
            <p14:sldId id="358"/>
            <p14:sldId id="359"/>
            <p14:sldId id="360"/>
            <p14:sldId id="361"/>
            <p14:sldId id="362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Destaqu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10" autoAdjust="0"/>
    <p:restoredTop sz="92652" autoAdjust="0"/>
  </p:normalViewPr>
  <p:slideViewPr>
    <p:cSldViewPr snapToGrid="0">
      <p:cViewPr varScale="1">
        <p:scale>
          <a:sx n="128" d="100"/>
          <a:sy n="128" d="100"/>
        </p:scale>
        <p:origin x="792" y="46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03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FACD9-89CE-405E-ADBD-C02B0D1D40B1}" type="datetimeFigureOut">
              <a:rPr lang="en-ID" smtClean="0"/>
              <a:t>13/11/25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29B61-F9CE-4401-8096-C37BB2492778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A7C44-3504-46BC-B128-A687108FC8C3}" type="datetimeFigureOut">
              <a:rPr lang="pt-PT" smtClean="0"/>
              <a:t>12/11/25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25017-EBB2-4EC1-9930-0281F5D6DBE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192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“Hi everyone, I’m Diogo Gomes, and this is the solution I built for the Bosch Data Engineer assessment.</a:t>
            </a:r>
            <a:br>
              <a:rPr lang="en-US" dirty="0"/>
            </a:br>
            <a:r>
              <a:rPr lang="en-US" dirty="0"/>
              <a:t>The idea was to design an end-to-end automotive data pipeline using only public datasets, and take it all the way from raw files to analytics-ready tables.</a:t>
            </a:r>
            <a:br>
              <a:rPr lang="en-US" dirty="0"/>
            </a:br>
            <a:r>
              <a:rPr lang="en-US" dirty="0"/>
              <a:t>I’ll walk you through the architecture, the main design decisions, and some of the insights we can actually extract from the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3501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the structure I’ll follow.</a:t>
            </a:r>
            <a:br>
              <a:rPr lang="en-US" dirty="0"/>
            </a:br>
            <a:r>
              <a:rPr lang="en-US" dirty="0"/>
              <a:t>First, a quick introduction and objectives.</a:t>
            </a:r>
            <a:br>
              <a:rPr lang="en-US" dirty="0"/>
            </a:br>
            <a:r>
              <a:rPr lang="en-US" dirty="0"/>
              <a:t>Then architecture, data acquisition, and processing.</a:t>
            </a:r>
            <a:br>
              <a:rPr lang="en-US" dirty="0"/>
            </a:br>
            <a:r>
              <a:rPr lang="en-US" dirty="0"/>
              <a:t>After that, integration, loading and automation.</a:t>
            </a:r>
            <a:br>
              <a:rPr lang="en-US" dirty="0"/>
            </a:br>
            <a:r>
              <a:rPr lang="en-US" dirty="0"/>
              <a:t>And finally, the main results, challenges, and a short conclusion.”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8682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automotive industry is increasingly data-driven – whether it’s monitoring safety, fuel efficiency or how prepared infrastructure is for new fuels.</a:t>
            </a:r>
            <a:br>
              <a:rPr lang="en-US" dirty="0"/>
            </a:br>
            <a:r>
              <a:rPr lang="en-US" dirty="0"/>
              <a:t>For this assessment I focused on building a realistic </a:t>
            </a:r>
            <a:r>
              <a:rPr lang="en-US" i="1" dirty="0"/>
              <a:t>pipeline</a:t>
            </a:r>
            <a:r>
              <a:rPr lang="en-US" dirty="0"/>
              <a:t> for public automotive data, instead of just doing a one-off analysis.</a:t>
            </a:r>
            <a:br>
              <a:rPr lang="en-US" dirty="0"/>
            </a:br>
            <a:r>
              <a:rPr lang="en-US" dirty="0"/>
              <a:t>The goal was to automate acquisition, cleaning and transformation of several datasets, and simulate how those outputs would land in an analytics environment.</a:t>
            </a:r>
            <a:br>
              <a:rPr lang="en-US" dirty="0"/>
            </a:br>
            <a:r>
              <a:rPr lang="en-US" dirty="0"/>
              <a:t>With that in place, we can </a:t>
            </a:r>
            <a:r>
              <a:rPr lang="en-US" dirty="0" err="1"/>
              <a:t>analyse</a:t>
            </a:r>
            <a:r>
              <a:rPr lang="en-US" dirty="0"/>
              <a:t> safety complaints, fuel economy and alternative fuel infrastructure in a consistent way.”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03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</a:t>
            </a:r>
            <a:r>
              <a:rPr lang="en-US" dirty="0" err="1"/>
              <a:t>organised</a:t>
            </a:r>
            <a:r>
              <a:rPr lang="en-US" dirty="0"/>
              <a:t> the work around five main objectives.</a:t>
            </a:r>
          </a:p>
          <a:p>
            <a:r>
              <a:rPr lang="en-US" dirty="0"/>
              <a:t>First, to build an </a:t>
            </a:r>
            <a:r>
              <a:rPr lang="en-US" b="1" dirty="0"/>
              <a:t>end-to-end pipeline</a:t>
            </a:r>
            <a:r>
              <a:rPr lang="en-US" dirty="0"/>
              <a:t>: ingest, clean and transform data from multiple public sources.</a:t>
            </a:r>
            <a:br>
              <a:rPr lang="en-US" dirty="0"/>
            </a:br>
            <a:r>
              <a:rPr lang="en-US" dirty="0"/>
              <a:t>Second, to </a:t>
            </a:r>
            <a:r>
              <a:rPr lang="en-US" b="1" dirty="0"/>
              <a:t>shape the data for analysis</a:t>
            </a:r>
            <a:r>
              <a:rPr lang="en-US" dirty="0"/>
              <a:t>, so the final outputs are actually useful for answering business questions.</a:t>
            </a:r>
            <a:br>
              <a:rPr lang="en-US" dirty="0"/>
            </a:br>
            <a:r>
              <a:rPr lang="en-US" dirty="0"/>
              <a:t>Third, to </a:t>
            </a:r>
            <a:r>
              <a:rPr lang="en-US" b="1" dirty="0"/>
              <a:t>simulate loading</a:t>
            </a:r>
            <a:r>
              <a:rPr lang="en-US" dirty="0"/>
              <a:t> these outputs into a target like Azure Delta Lake, so it’s closer to a real production setup.</a:t>
            </a:r>
            <a:br>
              <a:rPr lang="en-US" dirty="0"/>
            </a:br>
            <a:r>
              <a:rPr lang="en-US" dirty="0"/>
              <a:t>Fourth, to </a:t>
            </a:r>
            <a:r>
              <a:rPr lang="en-US" b="1" dirty="0"/>
              <a:t>document the key data decisions</a:t>
            </a:r>
            <a:r>
              <a:rPr lang="en-US" dirty="0"/>
              <a:t> – filters, joins, assumptions – so that someone else can understand and maintain the pipeline.</a:t>
            </a:r>
            <a:br>
              <a:rPr lang="en-US" dirty="0"/>
            </a:br>
            <a:r>
              <a:rPr lang="en-US" dirty="0"/>
              <a:t>And finally, to </a:t>
            </a:r>
            <a:r>
              <a:rPr lang="en-US" b="1" dirty="0"/>
              <a:t>propose an automation strategy</a:t>
            </a:r>
            <a:r>
              <a:rPr lang="en-US" dirty="0"/>
              <a:t>, with a schedule that can refresh the data regularly without manual steps.”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139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FA3E5-9217-A8B6-57BA-54A52273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7764A-C43A-D26B-B430-BDE81DB39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6852B-C841-C2E1-9BEF-CA4895F1F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is the high-level architecture.</a:t>
            </a:r>
            <a:br>
              <a:rPr lang="en-US" dirty="0"/>
            </a:br>
            <a:r>
              <a:rPr lang="en-US" dirty="0"/>
              <a:t>On the left, </a:t>
            </a:r>
            <a:r>
              <a:rPr lang="en-US" b="1" dirty="0"/>
              <a:t>data acquisition</a:t>
            </a:r>
            <a:r>
              <a:rPr lang="en-US" dirty="0"/>
              <a:t> from EPA, NHTSA and DOE into a raw layer.</a:t>
            </a:r>
            <a:br>
              <a:rPr lang="en-US" dirty="0"/>
            </a:br>
            <a:r>
              <a:rPr lang="en-US" dirty="0"/>
              <a:t>Then a </a:t>
            </a:r>
            <a:r>
              <a:rPr lang="en-US" b="1" dirty="0"/>
              <a:t>processing layer</a:t>
            </a:r>
            <a:r>
              <a:rPr lang="en-US" dirty="0"/>
              <a:t>, where each dataset is cleaned and </a:t>
            </a:r>
            <a:r>
              <a:rPr lang="en-US" dirty="0" err="1"/>
              <a:t>normalised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On top, </a:t>
            </a:r>
            <a:r>
              <a:rPr lang="en-US" b="1" dirty="0"/>
              <a:t>transformation and integration</a:t>
            </a:r>
            <a:r>
              <a:rPr lang="en-US" dirty="0"/>
              <a:t>, where I aggregate, join and build analytical features.</a:t>
            </a:r>
            <a:br>
              <a:rPr lang="en-US" dirty="0"/>
            </a:br>
            <a:r>
              <a:rPr lang="en-US" dirty="0"/>
              <a:t>Finally, a </a:t>
            </a:r>
            <a:r>
              <a:rPr lang="en-US" b="1" dirty="0"/>
              <a:t>loading and automation layer</a:t>
            </a:r>
            <a:r>
              <a:rPr lang="en-US" dirty="0"/>
              <a:t>, where I simulate loading into Delta tables and orchestrate everything as a weekly pipeline.”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46A57-2D2A-33F4-1B90-6B6CD7107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2000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99DE-511F-BE1F-B838-4BB7639E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AF3B0CF-E835-B530-45D2-BC223AAAF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ED1B6B6-D4C2-64F4-604C-87886AFE2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worked with three main public datasets.</a:t>
            </a:r>
          </a:p>
          <a:p>
            <a:r>
              <a:rPr lang="en-US" dirty="0"/>
              <a:t>• First, </a:t>
            </a:r>
            <a:r>
              <a:rPr lang="en-US" b="1" dirty="0"/>
              <a:t>EPA vehicle fuel economy</a:t>
            </a:r>
            <a:r>
              <a:rPr lang="en-US" dirty="0"/>
              <a:t> – that gives me fuel efficiency and technical specs for vehicles: MPG, CO₂ emissions, engine size, vehicle class, and so on.</a:t>
            </a:r>
            <a:br>
              <a:rPr lang="en-US" dirty="0"/>
            </a:br>
            <a:r>
              <a:rPr lang="en-US" dirty="0"/>
              <a:t>• Second, </a:t>
            </a:r>
            <a:r>
              <a:rPr lang="en-US" b="1" dirty="0"/>
              <a:t>NHTSA vehicle complaints</a:t>
            </a:r>
            <a:r>
              <a:rPr lang="en-US" dirty="0"/>
              <a:t> – real-world safety and reliability complaints reported by drivers, including information on crashes, fires, injuries and deaths.</a:t>
            </a:r>
            <a:br>
              <a:rPr lang="en-US" dirty="0"/>
            </a:br>
            <a:r>
              <a:rPr lang="en-US" dirty="0"/>
              <a:t>• Third, </a:t>
            </a:r>
            <a:r>
              <a:rPr lang="en-US" b="1" dirty="0"/>
              <a:t>DOE/NREL alternative fuel stations</a:t>
            </a:r>
            <a:r>
              <a:rPr lang="en-US" dirty="0"/>
              <a:t> – that describes the fuel infrastructure: which stations exist, where they are, and what fuels they support.</a:t>
            </a:r>
          </a:p>
          <a:p>
            <a:r>
              <a:rPr lang="en-US" dirty="0"/>
              <a:t>Combining these three lets me </a:t>
            </a:r>
            <a:r>
              <a:rPr lang="en-US" dirty="0" err="1"/>
              <a:t>analyse</a:t>
            </a:r>
            <a:r>
              <a:rPr lang="en-US" dirty="0"/>
              <a:t> fuel efficiency, reliability and infrastructure in one coherent view.”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22CAE77-5C4B-C2BC-B366-86832148F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3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9070-C0C3-D035-CB58-595215BC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81A0EA6-9D4E-C931-0D95-F0E0C086B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115D539-8EDA-F351-2EBC-634900FE2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“All acquisition is done by one script,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acquire_data.py</a:t>
            </a:r>
            <a:r>
              <a:rPr lang="en-US" dirty="0"/>
              <a:t>, which populates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data/raw</a:t>
            </a:r>
            <a:r>
              <a:rPr lang="en-US" dirty="0"/>
              <a:t> folder.</a:t>
            </a:r>
          </a:p>
          <a:p>
            <a:r>
              <a:rPr lang="en-US" dirty="0"/>
              <a:t>• For </a:t>
            </a:r>
            <a:r>
              <a:rPr lang="en-US" b="1" dirty="0"/>
              <a:t>EPA</a:t>
            </a:r>
            <a:r>
              <a:rPr lang="en-US" dirty="0"/>
              <a:t>, I download the official vehicles ZIP, store it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data/raw</a:t>
            </a:r>
            <a:r>
              <a:rPr lang="en-US" dirty="0"/>
              <a:t> and unzip it to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vehicles.csv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For </a:t>
            </a:r>
            <a:r>
              <a:rPr lang="en-US" b="1" dirty="0"/>
              <a:t>NHTSA</a:t>
            </a:r>
            <a:r>
              <a:rPr lang="en-US" dirty="0"/>
              <a:t>, I download the complaints ZIP for 2020–2024 and extract the large tab-separated text file.</a:t>
            </a:r>
            <a:br>
              <a:rPr lang="en-US" dirty="0"/>
            </a:br>
            <a:r>
              <a:rPr lang="en-US" dirty="0"/>
              <a:t>• For </a:t>
            </a:r>
            <a:r>
              <a:rPr lang="en-US" b="1" dirty="0"/>
              <a:t>DOE</a:t>
            </a:r>
            <a:r>
              <a:rPr lang="en-US" dirty="0"/>
              <a:t>, I call the NREL API using an API key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.env</a:t>
            </a:r>
            <a:r>
              <a:rPr lang="en-US" dirty="0"/>
              <a:t>, pull all stations, convert the JSON to a </a:t>
            </a:r>
            <a:r>
              <a:rPr lang="en-US" dirty="0" err="1"/>
              <a:t>DataFrame</a:t>
            </a:r>
            <a:r>
              <a:rPr lang="en-US" dirty="0"/>
              <a:t>, and save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alt_fuel_stations.csv</a:t>
            </a:r>
            <a:r>
              <a:rPr lang="en-US" dirty="0"/>
              <a:t>.</a:t>
            </a:r>
          </a:p>
          <a:p>
            <a:r>
              <a:rPr lang="en-US" dirty="0"/>
              <a:t>That gives me a </a:t>
            </a:r>
            <a:r>
              <a:rPr lang="en-US" b="1" dirty="0"/>
              <a:t>reproducible raw layer</a:t>
            </a:r>
            <a:r>
              <a:rPr lang="en-US" dirty="0"/>
              <a:t> I can rebuild from scratch.”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959CFE-F675-818D-5A0A-F729BC213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764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FABB-07D3-72BE-6AEA-79CB6396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51AD2E9-09FF-BC1B-0C07-A4E3D8C4F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7F40AEE-5576-3A75-08E2-5F4B77F70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the DOE data specifically, the acquisition is done via the NREL ‘alt-fuel-stations’ API.</a:t>
            </a:r>
            <a:br>
              <a:rPr lang="en-US" dirty="0"/>
            </a:br>
            <a:r>
              <a:rPr lang="en-US" dirty="0"/>
              <a:t>I inject the API key via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.env</a:t>
            </a:r>
            <a:r>
              <a:rPr lang="en-US" dirty="0"/>
              <a:t>, call the endpoint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limit=all</a:t>
            </a:r>
            <a:r>
              <a:rPr lang="en-US" dirty="0"/>
              <a:t> to avoid pagination complexity, and load the JSON into a </a:t>
            </a:r>
            <a:r>
              <a:rPr lang="en-US" dirty="0" err="1"/>
              <a:t>DataFrame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 </a:t>
            </a:r>
            <a:r>
              <a:rPr lang="en-US" dirty="0" err="1"/>
              <a:t>DataFrame</a:t>
            </a:r>
            <a:r>
              <a:rPr lang="en-US" dirty="0"/>
              <a:t> is then stored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data/raw/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alt_fuel_stations.csv</a:t>
            </a:r>
            <a:r>
              <a:rPr lang="en-US" dirty="0"/>
              <a:t>, so from this point on all sources behave like regular CSVs in the pipeline.</a:t>
            </a:r>
            <a:br>
              <a:rPr lang="en-US" dirty="0"/>
            </a:br>
            <a:r>
              <a:rPr lang="en-US" dirty="0"/>
              <a:t>In a real environment I’d also keep a fallback to a static CSV export for resilience if the API is temporarily down.”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A1C5902-39D2-D2D5-B546-3BFDA274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394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3EB53-B815-7290-FE83-210F1C69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929F72E-BC3A-A8EF-B94D-44F1CB46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061B167-870B-D760-5ADC-E3B864E4A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 the EPA side, the initial cleaning focuses on keeping the data </a:t>
            </a:r>
            <a:r>
              <a:rPr lang="en-US" b="1" dirty="0"/>
              <a:t>recent and valid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load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vehicles.csv</a:t>
            </a:r>
            <a:r>
              <a:rPr lang="en-US" dirty="0"/>
              <a:t>, filter to model years from 2010 onwards so we’re not mixing very old vehicles with newer ones, and drop rows missing key fields like year, make or model.</a:t>
            </a:r>
            <a:br>
              <a:rPr lang="en-US" dirty="0"/>
            </a:br>
            <a:r>
              <a:rPr lang="en-US" dirty="0"/>
              <a:t>I require at least one MPG value to be present, and I remove vehicles where combined MPG is zero, which is clearly invalid.</a:t>
            </a:r>
            <a:br>
              <a:rPr lang="en-US" dirty="0"/>
            </a:br>
            <a:r>
              <a:rPr lang="en-US" dirty="0"/>
              <a:t>Extremely high MPG values are capped at a reasonable upper bound, except for electric vehicles which behave differently.</a:t>
            </a:r>
            <a:br>
              <a:rPr lang="en-US" dirty="0"/>
            </a:br>
            <a:r>
              <a:rPr lang="en-US" dirty="0"/>
              <a:t>Finally, I slim the dataset down from more than 80 columns to a focused subset: year, make, model, vehicle class, engine, MPG metrics, CO₂ and the fuel type fields.</a:t>
            </a:r>
            <a:br>
              <a:rPr lang="en-US" dirty="0"/>
            </a:br>
            <a:r>
              <a:rPr lang="en-US" dirty="0"/>
              <a:t>That gives a solid base for the more interesting step: handling dual-fuel vehicles.”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05A2983-116B-2470-6F82-8E391BFF8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043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C0B-503C-863E-C855-62467791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A3990D8-FF7B-37AA-5614-E0FFDBDD4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9048B92-5CFB-3F39-2A0E-99BC6CA44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“Across all datasets I followed the same basic cleaning principles.</a:t>
            </a:r>
          </a:p>
          <a:p>
            <a:r>
              <a:rPr lang="en-US" dirty="0"/>
              <a:t>• Ensure </a:t>
            </a:r>
            <a:r>
              <a:rPr lang="en-US" b="1" dirty="0"/>
              <a:t>key fields</a:t>
            </a:r>
            <a:r>
              <a:rPr lang="en-US" dirty="0"/>
              <a:t> are present – IDs, dates, year/make/model or coordinates, depending on the dataset.</a:t>
            </a:r>
            <a:br>
              <a:rPr lang="en-US" dirty="0"/>
            </a:br>
            <a:r>
              <a:rPr lang="en-US" dirty="0"/>
              <a:t>• Drop rows missing those critical fields.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Normalise</a:t>
            </a:r>
            <a:r>
              <a:rPr lang="en-US" dirty="0"/>
              <a:t> text – trimming and uppercasing, especially for make and model.</a:t>
            </a:r>
            <a:br>
              <a:rPr lang="en-US" dirty="0"/>
            </a:br>
            <a:r>
              <a:rPr lang="en-US" dirty="0"/>
              <a:t>• Parse dates and numeric fields into proper types.</a:t>
            </a:r>
            <a:br>
              <a:rPr lang="en-US" dirty="0"/>
            </a:br>
            <a:r>
              <a:rPr lang="en-US" dirty="0"/>
              <a:t>• Remove obviously invalid values like MPG = 0, negative mileage or (0,0) coordinates, and restrict to realistic, recent years.</a:t>
            </a:r>
            <a:br>
              <a:rPr lang="en-US" dirty="0"/>
            </a:br>
            <a:r>
              <a:rPr lang="en-US" dirty="0"/>
              <a:t>• And finally, reduce each raw schema to a </a:t>
            </a:r>
            <a:r>
              <a:rPr lang="en-US" b="1" dirty="0"/>
              <a:t>focused set of columns</a:t>
            </a:r>
            <a:r>
              <a:rPr lang="en-US" dirty="0"/>
              <a:t> needed for integration and analysis.”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AD3F97-1B09-3CD9-51C4-133725E43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1176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84CB-44F8-3863-C060-6E630333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EFD0105-57DC-F6BD-F431-558D9AC8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7DB71C2-D641-E7DB-A6B0-590A4F343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most important processing decision was how to handle </a:t>
            </a:r>
            <a:r>
              <a:rPr lang="en-US" b="1" dirty="0"/>
              <a:t>dual-fuel vehicles</a:t>
            </a:r>
            <a:r>
              <a:rPr lang="en-US" dirty="0"/>
              <a:t> in the EPA data.</a:t>
            </a:r>
          </a:p>
          <a:p>
            <a:r>
              <a:rPr lang="en-US" dirty="0"/>
              <a:t>Many vehicles, especially plug-in hybrids, have both a primary and a secondary fuel – for example, electricity and gasoline.</a:t>
            </a:r>
            <a:br>
              <a:rPr lang="en-US" dirty="0"/>
            </a:br>
            <a:r>
              <a:rPr lang="en-US" dirty="0"/>
              <a:t>If we treat them as a single row with two fuels attached, it becomes very hard to correctly relate them to infrastructure later.</a:t>
            </a:r>
          </a:p>
          <a:p>
            <a:r>
              <a:rPr lang="en-US" dirty="0"/>
              <a:t>So what I do is:</a:t>
            </a:r>
            <a:br>
              <a:rPr lang="en-US" dirty="0"/>
            </a:br>
            <a:r>
              <a:rPr lang="en-US" dirty="0"/>
              <a:t>– identify vehicles where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secondary_fuel</a:t>
            </a:r>
            <a:r>
              <a:rPr lang="en-US" dirty="0"/>
              <a:t> is not null;</a:t>
            </a:r>
            <a:br>
              <a:rPr lang="en-US" dirty="0"/>
            </a:br>
            <a:r>
              <a:rPr lang="en-US" dirty="0"/>
              <a:t>– build one </a:t>
            </a:r>
            <a:r>
              <a:rPr lang="en-US" dirty="0" err="1"/>
              <a:t>DataFrame</a:t>
            </a:r>
            <a:r>
              <a:rPr lang="en-US" dirty="0"/>
              <a:t> where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fuel_used</a:t>
            </a:r>
            <a:r>
              <a:rPr lang="en-US" dirty="0"/>
              <a:t> is the primary fuel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fuel_rank</a:t>
            </a:r>
            <a:r>
              <a:rPr lang="en-US" dirty="0"/>
              <a:t> is 1;</a:t>
            </a:r>
            <a:br>
              <a:rPr lang="en-US" dirty="0"/>
            </a:br>
            <a:r>
              <a:rPr lang="en-US" dirty="0"/>
              <a:t>– and another where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fuel_used</a:t>
            </a:r>
            <a:r>
              <a:rPr lang="en-US" dirty="0"/>
              <a:t> is the secondary fuel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fuel_rank</a:t>
            </a:r>
            <a:r>
              <a:rPr lang="en-US" dirty="0"/>
              <a:t> is 2.</a:t>
            </a:r>
          </a:p>
          <a:p>
            <a:r>
              <a:rPr lang="en-US" dirty="0"/>
              <a:t>Then I concatenate both, so the final EPA dataset has </a:t>
            </a:r>
            <a:r>
              <a:rPr lang="en-US" b="1" dirty="0"/>
              <a:t>one row per vehicle–fuel combination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lets me later </a:t>
            </a:r>
            <a:r>
              <a:rPr lang="en-US" dirty="0" err="1"/>
              <a:t>analyse</a:t>
            </a:r>
            <a:r>
              <a:rPr lang="en-US" dirty="0"/>
              <a:t> EV demand separately from gasoline, and cleanly join with the DOE stations by fuel type.</a:t>
            </a:r>
            <a:br>
              <a:rPr lang="en-US" dirty="0"/>
            </a:br>
            <a:r>
              <a:rPr lang="en-US" dirty="0"/>
              <a:t>That processed dataset is saved as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epa_vehicles_clean.csv</a:t>
            </a:r>
            <a:r>
              <a:rPr lang="en-US" dirty="0"/>
              <a:t>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56E1D1-998B-38AA-4035-4F2FAB7FA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236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58FA-F73E-70D2-2ED8-3561CA1E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6413971-EB93-1A39-2445-2FC42932E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FF15470-60B9-1E18-034B-A77B1D101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raw NHTSA complaints file is a fairly messy flat text file: tab-separated and without a header row.</a:t>
            </a:r>
            <a:br>
              <a:rPr lang="en-US" dirty="0"/>
            </a:br>
            <a:r>
              <a:rPr lang="en-US" dirty="0"/>
              <a:t>I start by selecting columns by position and renaming them to meaningful names like complaint ID, make, model, year, crash flag, fire flag, injuries, deaths, complaint description, VIN and mileage.</a:t>
            </a:r>
          </a:p>
          <a:p>
            <a:r>
              <a:rPr lang="en-US" dirty="0"/>
              <a:t>I drop rows missing a complaint ID, a date, a year, or basic make/model information, then parse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DATEA</a:t>
            </a:r>
            <a:r>
              <a:rPr lang="en-US" dirty="0"/>
              <a:t> field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YYYYMMDD</a:t>
            </a:r>
            <a:r>
              <a:rPr lang="en-US" dirty="0"/>
              <a:t> into a proper datetime.</a:t>
            </a:r>
            <a:br>
              <a:rPr lang="en-US" dirty="0"/>
            </a:br>
            <a:r>
              <a:rPr lang="en-US" dirty="0"/>
              <a:t>I convert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YEARTXT</a:t>
            </a:r>
            <a:r>
              <a:rPr lang="en-US" dirty="0"/>
              <a:t> to numeric and cast mileage to a numeric type as well.</a:t>
            </a:r>
          </a:p>
          <a:p>
            <a:r>
              <a:rPr lang="en-US" dirty="0"/>
              <a:t>For quality, I remove any complaints with dates or vehicle years in the future, and I cap mileage at a very high but reasonable threshold to catch obvious data entry errors.</a:t>
            </a:r>
            <a:br>
              <a:rPr lang="en-US" dirty="0"/>
            </a:br>
            <a:r>
              <a:rPr lang="en-US" dirty="0"/>
              <a:t>I then deduplicate by complaint ID, </a:t>
            </a:r>
            <a:r>
              <a:rPr lang="en-US" dirty="0" err="1"/>
              <a:t>normalise</a:t>
            </a:r>
            <a:r>
              <a:rPr lang="en-US" dirty="0"/>
              <a:t> the date back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YYYY-MM-DD</a:t>
            </a:r>
            <a:r>
              <a:rPr lang="en-US" dirty="0"/>
              <a:t>, cast types properly and save the result as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nhtsa_complaints_clean.csv</a:t>
            </a:r>
            <a:r>
              <a:rPr lang="en-US" dirty="0"/>
              <a:t>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E04ED90-F4AE-4671-C650-BD929F8EE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8656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1FCE-BD5A-8E7B-0B7F-050B28B1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6C185F7-5CC4-155A-500E-464F42F77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854E1CE-6929-D74B-D481-6DEAFE29D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simpler terms, the NHTSA cleaning does three main things.</a:t>
            </a:r>
          </a:p>
          <a:p>
            <a:r>
              <a:rPr lang="en-US" dirty="0"/>
              <a:t>• It turns a messy tab-separated text file into a structured table with IDs, make/model/year, crash flags, injuries, deaths, complaint text and mileage.</a:t>
            </a:r>
            <a:br>
              <a:rPr lang="en-US" dirty="0"/>
            </a:br>
            <a:r>
              <a:rPr lang="en-US" dirty="0"/>
              <a:t>• It enforces basic validity: no missing IDs, no missing dates or vehicle information, and no future dates or years.</a:t>
            </a:r>
            <a:br>
              <a:rPr lang="en-US" dirty="0"/>
            </a:br>
            <a:r>
              <a:rPr lang="en-US" dirty="0"/>
              <a:t>• It </a:t>
            </a:r>
            <a:r>
              <a:rPr lang="en-US" dirty="0" err="1"/>
              <a:t>normalises</a:t>
            </a:r>
            <a:r>
              <a:rPr lang="en-US" dirty="0"/>
              <a:t> dates and numeric types, caps unrealistic mileage, and removes duplicate complaints.</a:t>
            </a:r>
          </a:p>
          <a:p>
            <a:r>
              <a:rPr lang="en-US" dirty="0"/>
              <a:t>That gives me a reliable view of real-world safety and reliability issues.”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0ED6FD7-56FB-3F94-F7D9-A0B2331F0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9882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D6DD-8EA5-B5A7-E389-7770F3D8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AD0955F-6D76-F56E-AFD8-469C19E8C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0D286C1-92E1-7454-68AC-592E1051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the DOE fuel stations, the detailed cleaning is about getting a </a:t>
            </a:r>
            <a:r>
              <a:rPr lang="en-US" b="1" dirty="0"/>
              <a:t>realistic map of infrastructure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start from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alt_fuel_stations.csv</a:t>
            </a:r>
            <a:r>
              <a:rPr lang="en-US" dirty="0"/>
              <a:t> generated from the NREL API, with around 76 columns per station.</a:t>
            </a:r>
          </a:p>
          <a:p>
            <a:r>
              <a:rPr lang="en-US" dirty="0"/>
              <a:t>I keep only rows that have latitude, longitude, a fuel type code and a status code.</a:t>
            </a:r>
            <a:br>
              <a:rPr lang="en-US" dirty="0"/>
            </a:br>
            <a:r>
              <a:rPr lang="en-US" dirty="0"/>
              <a:t>I drop any coordinates outside plausible US bounds, and any that are exactly (0,0), which are clearly invalid.</a:t>
            </a:r>
            <a:br>
              <a:rPr lang="en-US" dirty="0"/>
            </a:br>
            <a:r>
              <a:rPr lang="en-US" dirty="0"/>
              <a:t>Then I remove duplicate stations by NREL ID and keep only alternative fuels – electric, CNG, LNG, biodiesel, E85 and hydrogen.</a:t>
            </a:r>
            <a:br>
              <a:rPr lang="en-US" dirty="0"/>
            </a:br>
            <a:r>
              <a:rPr lang="en-US" dirty="0"/>
              <a:t>Finally, I reduce the schema to the key columns: fuel type, station name, address, state, coordinates, status, access type and EV network information, and save that as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doe_fuel_stations_clean.csv</a:t>
            </a:r>
            <a:r>
              <a:rPr lang="en-US" dirty="0"/>
              <a:t>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2193706-75F5-A1D5-084A-8A2DC9C42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2065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4BEB-9F87-791D-CCB3-F90158E3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9D5B737-B6DA-D098-0EC3-2D9CBC42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3ABFB8D-D82A-5B9D-8CC9-5D74EBAC5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“At a higher level, the DOE fuel station cleaning can be </a:t>
            </a:r>
            <a:r>
              <a:rPr lang="en-US" dirty="0" err="1"/>
              <a:t>summarised</a:t>
            </a:r>
            <a:r>
              <a:rPr lang="en-US" dirty="0"/>
              <a:t> like this:</a:t>
            </a:r>
          </a:p>
          <a:p>
            <a:r>
              <a:rPr lang="en-US" dirty="0"/>
              <a:t>– The raw data comes from the NREL ‘Alternative Fuel Stations’ API as a wide CSV with many columns.</a:t>
            </a:r>
            <a:br>
              <a:rPr lang="en-US" dirty="0"/>
            </a:br>
            <a:r>
              <a:rPr lang="en-US" dirty="0"/>
              <a:t>– I enforce basic validity: every station must have coordinates, a fuel type and a status; I remove out-of-bounds coordinates and (0,0).</a:t>
            </a:r>
            <a:br>
              <a:rPr lang="en-US" dirty="0"/>
            </a:br>
            <a:r>
              <a:rPr lang="en-US" dirty="0"/>
              <a:t>– I focus only on </a:t>
            </a:r>
            <a:r>
              <a:rPr lang="en-US" b="1" dirty="0"/>
              <a:t>alternative fuel codes</a:t>
            </a:r>
            <a:r>
              <a:rPr lang="en-US" dirty="0"/>
              <a:t> – ELEC, LNG, CNG, biodiesel, E85 and hydrogen – and drop duplicates.</a:t>
            </a:r>
            <a:br>
              <a:rPr lang="en-US" dirty="0"/>
            </a:br>
            <a:r>
              <a:rPr lang="en-US" dirty="0"/>
              <a:t>– Then I reduce it to the core attributes we actually need: fuel type, address, coordinates, status and some basic network or access information.</a:t>
            </a:r>
          </a:p>
          <a:p>
            <a:r>
              <a:rPr lang="en-US" dirty="0"/>
              <a:t>The result is a clean list of alternative fuel stations that can be reliably aggregated and compared with vehicle data.”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658D72D-A93F-3319-7EE3-D45BAF2B1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3718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C8EB-AE59-A25E-0FBA-7D2ED4C1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E591799-7678-2761-2AB8-3E0F6B23F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F988677-E9B0-5D76-16AB-263955C7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“Once each dataset is clean, they’re already useful… but the real value comes from </a:t>
            </a:r>
            <a:r>
              <a:rPr lang="en-US" b="1" dirty="0"/>
              <a:t>integrating</a:t>
            </a:r>
            <a:r>
              <a:rPr lang="en-US" dirty="0"/>
              <a:t> them.</a:t>
            </a:r>
          </a:p>
          <a:p>
            <a:r>
              <a:rPr lang="en-US" dirty="0"/>
              <a:t>• EPA gives me fuel economy and vehicle specifications.</a:t>
            </a:r>
            <a:br>
              <a:rPr lang="en-US" dirty="0"/>
            </a:br>
            <a:r>
              <a:rPr lang="en-US" dirty="0"/>
              <a:t>• NHTSA gives me reliability and safety through complaints.</a:t>
            </a:r>
            <a:br>
              <a:rPr lang="en-US" dirty="0"/>
            </a:br>
            <a:r>
              <a:rPr lang="en-US" dirty="0"/>
              <a:t>• DOE gives me the fuel infrastructure.</a:t>
            </a:r>
          </a:p>
          <a:p>
            <a:r>
              <a:rPr lang="en-US" dirty="0"/>
              <a:t>By joining them, I can:</a:t>
            </a:r>
            <a:br>
              <a:rPr lang="en-US" dirty="0"/>
            </a:br>
            <a:r>
              <a:rPr lang="en-US" dirty="0"/>
              <a:t>– link fuel efficiency with complaint </a:t>
            </a:r>
            <a:r>
              <a:rPr lang="en-US" dirty="0" err="1"/>
              <a:t>behaviour</a:t>
            </a:r>
            <a:r>
              <a:rPr lang="en-US" dirty="0"/>
              <a:t> and safety;</a:t>
            </a:r>
            <a:br>
              <a:rPr lang="en-US" dirty="0"/>
            </a:br>
            <a:r>
              <a:rPr lang="en-US" dirty="0"/>
              <a:t>– link vehicle fuel types with how dense the station network is;</a:t>
            </a:r>
            <a:br>
              <a:rPr lang="en-US" dirty="0"/>
            </a:br>
            <a:r>
              <a:rPr lang="en-US" dirty="0"/>
              <a:t>– and move from three isolated views to </a:t>
            </a:r>
            <a:r>
              <a:rPr lang="en-US" b="1" dirty="0"/>
              <a:t>end-to-end insights</a:t>
            </a:r>
            <a:r>
              <a:rPr lang="en-US" dirty="0"/>
              <a:t>.</a:t>
            </a:r>
          </a:p>
          <a:p>
            <a:r>
              <a:rPr lang="en-US" dirty="0"/>
              <a:t>Concretely, I produce three purpose-built outputs: a Vehicle Complaints Analysis table, a Fuel Infrastructure Analysis table, and a Comprehensive Vehicle Analysis that brings everything together.”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5C772B-2D64-15A3-7D73-6827C81BB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4163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4946-9A5F-8F6F-0BFE-4CEF1130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1B8D7ED-8062-8E68-1F67-F113B28E0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5AF2B16-1F9C-6709-67C2-37A501050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the detailed integration view, each analytical table has a clear recipe.</a:t>
            </a:r>
          </a:p>
          <a:p>
            <a:r>
              <a:rPr lang="en-US" dirty="0"/>
              <a:t>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vehicle_complaints_analysis</a:t>
            </a:r>
            <a:r>
              <a:rPr lang="en-US" dirty="0"/>
              <a:t>, I </a:t>
            </a:r>
            <a:r>
              <a:rPr lang="en-US" dirty="0" err="1"/>
              <a:t>normalise</a:t>
            </a:r>
            <a:r>
              <a:rPr lang="en-US" dirty="0"/>
              <a:t> make and model, aggregate NHTSA complaints by year, make and model, compute counts of complaints, crashes, fires, injured and deaths, plus average mileage at complaint; then I left-join that back to EPA vehicles and add a count of vehicle variants.</a:t>
            </a:r>
          </a:p>
          <a:p>
            <a:r>
              <a:rPr lang="en-US" dirty="0"/>
              <a:t>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fuel_infrastructure_analysis</a:t>
            </a:r>
            <a:r>
              <a:rPr lang="en-US" dirty="0"/>
              <a:t>, I map the EPA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fuel_used</a:t>
            </a:r>
            <a:r>
              <a:rPr lang="en-US" dirty="0"/>
              <a:t> value to DOE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fuel_type_code</a:t>
            </a:r>
            <a:r>
              <a:rPr lang="en-US" dirty="0"/>
              <a:t>, group vehicles by year and fuel type for counts and average MPG, and then bring in DOE station counts per fuel type to compute a vehicles-per-station metric.</a:t>
            </a:r>
          </a:p>
          <a:p>
            <a:r>
              <a:rPr lang="en-US" dirty="0"/>
              <a:t>And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comprehensive_vehicle_analysis</a:t>
            </a:r>
            <a:r>
              <a:rPr lang="en-US" dirty="0"/>
              <a:t>, I start from the vehicle complaints view and join in the station metrics by fuel type, so each row represents a vehicle–fuel combination with fuel economy, reliability and infrastructure metrics all side by side.”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C07B67F-81AD-8EB7-0D6C-FAF702241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9999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4E8D-BBF7-4C60-BBCB-626DD8AC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940B141-60B7-21AA-C097-071AE6B9E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7EC4A79-C629-1EDC-60E4-5583F8CBF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analytical datasets that come out of the integration step.</a:t>
            </a:r>
          </a:p>
          <a:p>
            <a:r>
              <a:rPr lang="en-US" dirty="0"/>
              <a:t>First,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vehicle_complaints_analysis</a:t>
            </a:r>
            <a:r>
              <a:rPr lang="en-US" dirty="0"/>
              <a:t>: I aggregate NHTSA complaints by year, make and model, compute metrics like total complaints, crashes, injuries and deaths, and then left-join that back onto EPA vehicles — including the dual-fuel rows — and add a count of variants per year/make/model.</a:t>
            </a:r>
          </a:p>
          <a:p>
            <a:r>
              <a:rPr lang="en-US" dirty="0"/>
              <a:t>Second,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fuel_infrastructure_analysis</a:t>
            </a:r>
            <a:r>
              <a:rPr lang="en-US" dirty="0"/>
              <a:t>: here I align fuel labels by mapping EPA’s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fuel_used</a:t>
            </a:r>
            <a:r>
              <a:rPr lang="en-US" dirty="0"/>
              <a:t> to DOE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fuel_type_code</a:t>
            </a:r>
            <a:r>
              <a:rPr lang="en-US" dirty="0"/>
              <a:t>, group vehicles by year and fuel type to get counts and average MPG, and then join in DOE station counts to compute a vehicles-per-station metric.</a:t>
            </a:r>
          </a:p>
          <a:p>
            <a:r>
              <a:rPr lang="en-US" dirty="0"/>
              <a:t>Finally,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comprehensive_vehicle_analysis</a:t>
            </a:r>
            <a:r>
              <a:rPr lang="en-US" dirty="0"/>
              <a:t>: I start from the complaints table and join the infrastructure metrics by fuel type, so each row represents a vehicle–fuel combination with economy, complaints and infrastructure all together. That’s the table I use for the final end-to-end analysis.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19776D5-D754-1565-8060-D5D75CC7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0798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DB766-2466-11AC-6FEA-D59511B8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7898D0F-A98B-5CD1-BD88-62E955BBD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0BA05B5-BF12-7A1A-E6F0-EAEBE3E9A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 the loading side, the goal is to expose these three integrated CSVs as </a:t>
            </a:r>
            <a:r>
              <a:rPr lang="en-US" b="1" dirty="0"/>
              <a:t>Delta tables</a:t>
            </a:r>
            <a:r>
              <a:rPr lang="en-US" dirty="0"/>
              <a:t>.</a:t>
            </a:r>
          </a:p>
          <a:p>
            <a:r>
              <a:rPr lang="en-US" dirty="0"/>
              <a:t>I define a simple target:</a:t>
            </a:r>
            <a:br>
              <a:rPr lang="en-US" dirty="0"/>
            </a:br>
            <a:r>
              <a:rPr lang="en-US" dirty="0"/>
              <a:t>– Catalog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automotive_data</a:t>
            </a:r>
            <a:r>
              <a:rPr lang="en-US" dirty="0"/>
              <a:t>, </a:t>
            </a:r>
          </a:p>
          <a:p>
            <a:r>
              <a:rPr lang="en-US" dirty="0"/>
              <a:t>- schema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analytics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– with three tables: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vehicle_complaints_analysis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fuel_infrastructure_analysis</a:t>
            </a:r>
            <a:r>
              <a:rPr lang="en-US" dirty="0"/>
              <a:t>,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comprehensive_vehicle_analysis</a:t>
            </a:r>
            <a:r>
              <a:rPr lang="en-US" dirty="0"/>
              <a:t>.</a:t>
            </a:r>
          </a:p>
          <a:p>
            <a:r>
              <a:rPr lang="en-US" dirty="0"/>
              <a:t>The strategy is a </a:t>
            </a:r>
            <a:r>
              <a:rPr lang="en-US" b="1" dirty="0"/>
              <a:t>full refresh</a:t>
            </a:r>
            <a:r>
              <a:rPr lang="en-US" dirty="0"/>
              <a:t>: recreate the tables each run, load from staged CSVs, and run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OPTIMIZE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ANALYZE TABLE</a:t>
            </a:r>
            <a:r>
              <a:rPr lang="en-US" dirty="0"/>
              <a:t> to keep performance good.”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58648F-0F9A-D938-64A5-065C919B3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7849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CFD62-1BF7-9543-77A9-4F7A5568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6B66EDB-6940-8093-158A-DD350859C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BDFDB8C-F548-AF18-FA8A-A33135EA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loading simulation is done in Python and is built to be dynamic.</a:t>
            </a:r>
            <a:br>
              <a:rPr lang="en-US" dirty="0"/>
            </a:br>
            <a:r>
              <a:rPr lang="en-US" dirty="0"/>
              <a:t>It inspects each final CSV with pandas, maps </a:t>
            </a:r>
            <a:r>
              <a:rPr lang="en-US" dirty="0" err="1"/>
              <a:t>dtypes</a:t>
            </a:r>
            <a:r>
              <a:rPr lang="en-US" dirty="0"/>
              <a:t> to SQL types, and generates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OR REPLACE TABLE</a:t>
            </a:r>
            <a:r>
              <a:rPr lang="en-US" dirty="0"/>
              <a:t> statements.</a:t>
            </a:r>
            <a:br>
              <a:rPr lang="en-US" dirty="0"/>
            </a:br>
            <a:r>
              <a:rPr lang="en-US" dirty="0"/>
              <a:t>Instead of actually connecting to Databricks here, the script prints the SQL or </a:t>
            </a:r>
            <a:r>
              <a:rPr lang="en-US" dirty="0" err="1"/>
              <a:t>PySpark</a:t>
            </a:r>
            <a:r>
              <a:rPr lang="en-US" dirty="0"/>
              <a:t> commands and the row counts, so we can see exactly how the tables would be created and populated.</a:t>
            </a:r>
            <a:br>
              <a:rPr lang="en-US" dirty="0"/>
            </a:br>
            <a:r>
              <a:rPr lang="en-US" dirty="0"/>
              <a:t>In a real environment, the same logic could live inside a Databricks notebook or a CI/CD pipeline.”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2302BFC-CE03-1AF3-3921-E9F2ECFBA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1357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2FA9-239B-0B10-8C98-ECF3FDC6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A29861C-995C-A4CB-CE74-37605A42A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D26AB3F-2D23-6887-04B1-EEF980777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shows a snippet of how that looks in code.</a:t>
            </a:r>
          </a:p>
          <a:p>
            <a:r>
              <a:rPr lang="en-US" dirty="0"/>
              <a:t>The main point isn’t the specific syntax, it’s the approach: infer the schema from the processed data, generate the DDL dynamically, and treat table creation and data loading as an automated, repeatable step in the pipeline.</a:t>
            </a:r>
          </a:p>
          <a:p>
            <a:r>
              <a:rPr lang="en-US" dirty="0"/>
              <a:t>That makes it easy to change the schema in the processing layer and keep the tables in sync without manual intervention.”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DCE33B-D281-C018-C480-623EEFC72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7298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5473-2AF3-5619-F568-0BC3ABB2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E344EA0-727E-5283-401C-C3261B18C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4B0435A-8283-C199-3A01-E1E39BC30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“Now, the fun part – the results.</a:t>
            </a:r>
          </a:p>
          <a:p>
            <a:r>
              <a:rPr lang="en-US" dirty="0"/>
              <a:t>The </a:t>
            </a:r>
            <a:r>
              <a:rPr lang="en-US" b="1" dirty="0"/>
              <a:t>Vehicle Complaints Analysis</a:t>
            </a:r>
            <a:r>
              <a:rPr lang="en-US" dirty="0"/>
              <a:t> combines fuel economy with reliability.</a:t>
            </a:r>
            <a:br>
              <a:rPr lang="en-US" dirty="0"/>
            </a:br>
            <a:r>
              <a:rPr lang="en-US" dirty="0"/>
              <a:t>It lets us ask: are more efficient vehicles really more reliable, which brands have high complaint rates, and how EVs compare to gasoline cars.</a:t>
            </a:r>
          </a:p>
          <a:p>
            <a:r>
              <a:rPr lang="en-US" dirty="0"/>
              <a:t>In this dataset, I didn’t see a clear correlation between MPG (Miles Per Gallon) and complaints by itself.</a:t>
            </a:r>
            <a:br>
              <a:rPr lang="en-US" dirty="0"/>
            </a:br>
            <a:r>
              <a:rPr lang="en-US" dirty="0"/>
              <a:t>But EVs stand out: they show about </a:t>
            </a:r>
            <a:r>
              <a:rPr lang="en-US" b="1" dirty="0"/>
              <a:t>71.7% fewer complaints per vehicle</a:t>
            </a:r>
            <a:r>
              <a:rPr lang="en-US" dirty="0"/>
              <a:t> compared to gasoline cars.</a:t>
            </a:r>
            <a:br>
              <a:rPr lang="en-US" dirty="0"/>
            </a:br>
            <a:r>
              <a:rPr lang="en-US" dirty="0"/>
              <a:t>The brands with the highest complaints per vehicle are Chrysler, Honda, Hyundai, Kia and Dodge.</a:t>
            </a:r>
          </a:p>
          <a:p>
            <a:r>
              <a:rPr lang="en-US" dirty="0"/>
              <a:t>This table is useful to highlight safety and reliability risks and to </a:t>
            </a:r>
            <a:r>
              <a:rPr lang="en-US" dirty="0" err="1"/>
              <a:t>prioritise</a:t>
            </a:r>
            <a:r>
              <a:rPr lang="en-US" dirty="0"/>
              <a:t> where to investigate quality issues.”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4767C8C-1DDE-A1FA-D335-8EB07D97B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637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6187-63DD-EFF7-C3BF-AA256695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1479AEA-A0BD-4B79-FD3C-DD4971479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1386927-36F5-CC92-0EAF-8A3BCEE65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an example visual built on top of that table.</a:t>
            </a:r>
            <a:br>
              <a:rPr lang="en-US" dirty="0"/>
            </a:br>
            <a:r>
              <a:rPr lang="en-US" dirty="0"/>
              <a:t>It shows how complaint rates differ by brand and fuel type, which is exactly the kind of view you’d put in a reliability or quality dashboard.”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1FE2DA4-146A-7411-1A64-D8065E9EB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3601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54F3-1A15-4E1C-BE4A-170D46C6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22BC8FC-E8EB-03EE-C0D7-9E72B525C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A965285-DCAA-695C-4FF7-527F9E964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</a:t>
            </a:r>
            <a:r>
              <a:rPr lang="en-US" b="1" dirty="0"/>
              <a:t>Fuel Infrastructure Analysis</a:t>
            </a:r>
            <a:r>
              <a:rPr lang="en-US" dirty="0"/>
              <a:t> links vehicles to stations.</a:t>
            </a:r>
          </a:p>
          <a:p>
            <a:r>
              <a:rPr lang="en-US" dirty="0"/>
              <a:t>The key questions here are: do alternative fuel vehicles have enough stations, and are any fuel types clearly under-served?</a:t>
            </a:r>
          </a:p>
          <a:p>
            <a:r>
              <a:rPr lang="en-US" dirty="0"/>
              <a:t>In the aggregated view I built, all </a:t>
            </a:r>
            <a:r>
              <a:rPr lang="en-US" dirty="0" err="1"/>
              <a:t>analysed</a:t>
            </a:r>
            <a:r>
              <a:rPr lang="en-US" dirty="0"/>
              <a:t> alternative fuels – hydrogen, biodiesel and electricity – sit comfortably above a minimum infrastructure threshold.</a:t>
            </a:r>
            <a:br>
              <a:rPr lang="en-US" dirty="0"/>
            </a:br>
            <a:r>
              <a:rPr lang="en-US" dirty="0"/>
              <a:t>Electric infrastructure in particular looks very dense, with a low vehicles-per-station ratio.</a:t>
            </a:r>
            <a:br>
              <a:rPr lang="en-US" dirty="0"/>
            </a:br>
            <a:r>
              <a:rPr lang="en-US" dirty="0"/>
              <a:t>Biodiesel and hydrogen also don’t show signs of shortage in this dataset.</a:t>
            </a:r>
          </a:p>
          <a:p>
            <a:r>
              <a:rPr lang="en-US" dirty="0"/>
              <a:t>So, at a national level, infrastructure doesn’t appear to be the bottleneck for these fuels, which helps decide where infrastructure investment is – and isn’t – really needed.”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A71126A-D3A2-1C76-5D6E-259E70CDE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8031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DFB50-72F6-5755-A28D-0FAD0978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CB51F29-EB79-2FC3-2F37-2C288FCB8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9E8D9FE-ECB1-68F3-55E1-EE521F674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simple visual compares the vehicles-per-station ratio across fuel types.</a:t>
            </a:r>
            <a:br>
              <a:rPr lang="en-US" dirty="0"/>
            </a:br>
            <a:r>
              <a:rPr lang="en-US" dirty="0"/>
              <a:t>It makes it easy to see that, in this dataset, none of the key alternative fuels are obviously under-served by stations.”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7B0326-A100-B8B9-8F87-E33EBAB8C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7127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F650-0709-D19E-69ED-22A1304D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5DDA0A7-1545-8CD2-6313-DBE062EF4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E54EFE4-C8C4-F7E1-52F4-95B8A416F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</a:t>
            </a:r>
            <a:r>
              <a:rPr lang="en-US" b="1" dirty="0"/>
              <a:t>Comprehensive Vehicle Analysis</a:t>
            </a:r>
            <a:r>
              <a:rPr lang="en-US" dirty="0"/>
              <a:t> brings everything together in one table.</a:t>
            </a:r>
          </a:p>
          <a:p>
            <a:r>
              <a:rPr lang="en-US" dirty="0"/>
              <a:t>Each row is a vehicle–fuel combination with fuel economy, complaint metrics and infrastructure metrics.</a:t>
            </a:r>
            <a:br>
              <a:rPr lang="en-US" dirty="0"/>
            </a:br>
            <a:r>
              <a:rPr lang="en-US" dirty="0"/>
              <a:t>This lets us check if poor infrastructure is associated with more complaints, and which vehicle classes best balance efficiency and reliability.</a:t>
            </a:r>
          </a:p>
          <a:p>
            <a:r>
              <a:rPr lang="en-US" dirty="0"/>
              <a:t>In this dataset, vehicles in poorly served infrastructure segments show about </a:t>
            </a:r>
            <a:r>
              <a:rPr lang="en-US" b="1" dirty="0"/>
              <a:t>2.5 times more complaints</a:t>
            </a:r>
            <a:r>
              <a:rPr lang="en-US" dirty="0"/>
              <a:t> than others.</a:t>
            </a:r>
            <a:br>
              <a:rPr lang="en-US" dirty="0"/>
            </a:br>
            <a:r>
              <a:rPr lang="en-US" dirty="0"/>
              <a:t>EVs, again, are in a good position: low complaints and strong infrastructure.</a:t>
            </a:r>
          </a:p>
          <a:p>
            <a:r>
              <a:rPr lang="en-US" dirty="0"/>
              <a:t>The most efficient classes are small station wagons, small SUVs 2WD and midsize cars.</a:t>
            </a:r>
            <a:br>
              <a:rPr lang="en-US" dirty="0"/>
            </a:br>
            <a:r>
              <a:rPr lang="en-US" dirty="0"/>
              <a:t>The most reliable classes tend to be small and standard pickup trucks, plus cargo and passenger vans.</a:t>
            </a:r>
          </a:p>
          <a:p>
            <a:r>
              <a:rPr lang="en-US" dirty="0"/>
              <a:t>This table is very useful for both product and infrastructure strategy.”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22A53EF-251B-4BC3-C0B9-523CBF138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0169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08CD-8C11-F95C-513C-4532E0AC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480A199-00D8-CF86-D9D2-FEB1A28EA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4E741AA-8272-13F1-5E0C-2DE22A553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a visual representation of that comprehensive table.</a:t>
            </a:r>
            <a:br>
              <a:rPr lang="en-US" dirty="0"/>
            </a:br>
            <a:r>
              <a:rPr lang="en-US" dirty="0"/>
              <a:t>It shows how different classes trade off efficiency, complaints and infrastructure coverage, and points to the segments that might deserve more attention.”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3D31DF2-2010-FFFF-5745-7DF153575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3689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1EFD-2C2B-58A3-2F8B-43988F33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3FF58AE-DB7B-B87F-DACC-348B28207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30D6197-2DEC-49ED-2458-B7C08520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“All of this is designed to be </a:t>
            </a:r>
            <a:r>
              <a:rPr lang="en-US" b="1" dirty="0"/>
              <a:t>automated</a:t>
            </a:r>
            <a:r>
              <a:rPr lang="en-US" dirty="0"/>
              <a:t>, not run manually.</a:t>
            </a:r>
          </a:p>
          <a:p>
            <a:r>
              <a:rPr lang="en-US" dirty="0"/>
              <a:t>I propose a </a:t>
            </a:r>
            <a:r>
              <a:rPr lang="en-US" b="1" dirty="0"/>
              <a:t>weekly pipeline</a:t>
            </a:r>
            <a:r>
              <a:rPr lang="en-US" dirty="0"/>
              <a:t>, for example on Sunday at 2 a.m., that orchestrates the full flow end-to-end:</a:t>
            </a:r>
            <a:br>
              <a:rPr lang="en-US" dirty="0"/>
            </a:br>
            <a:r>
              <a:rPr lang="en-US" dirty="0"/>
              <a:t>– acquisition of raw data,</a:t>
            </a:r>
            <a:br>
              <a:rPr lang="en-US" dirty="0"/>
            </a:br>
            <a:r>
              <a:rPr lang="en-US" dirty="0"/>
              <a:t>– processing and cleaning,</a:t>
            </a:r>
            <a:br>
              <a:rPr lang="en-US" dirty="0"/>
            </a:br>
            <a:r>
              <a:rPr lang="en-US" dirty="0"/>
              <a:t>– integration into the three analytical CSVs,</a:t>
            </a:r>
            <a:br>
              <a:rPr lang="en-US" dirty="0"/>
            </a:br>
            <a:r>
              <a:rPr lang="en-US" dirty="0"/>
              <a:t>– loading into Delta tables,</a:t>
            </a:r>
            <a:br>
              <a:rPr lang="en-US" dirty="0"/>
            </a:br>
            <a:r>
              <a:rPr lang="en-US" dirty="0"/>
              <a:t>– and a validation step at the end.</a:t>
            </a:r>
          </a:p>
          <a:p>
            <a:r>
              <a:rPr lang="en-US" dirty="0"/>
              <a:t>The idea is that, under normal conditions, there are </a:t>
            </a:r>
            <a:r>
              <a:rPr lang="en-US" b="1" dirty="0"/>
              <a:t>no manual steps</a:t>
            </a:r>
            <a:r>
              <a:rPr lang="en-US" dirty="0"/>
              <a:t> – every week we get fresh, validated data ready for analytics.”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F46D57-8E38-D9A1-83D3-1914C6EA2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6920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6C80-8AEE-8319-392F-47E52CBB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E4F313E-72B7-9ED5-166E-F8D77A8FC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1C02112-EDD8-F628-B3F7-A6B6B97A8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orchestration on Azure, I chose </a:t>
            </a:r>
            <a:r>
              <a:rPr lang="en-US" b="1" dirty="0"/>
              <a:t>Azure Data Factory</a:t>
            </a:r>
            <a:r>
              <a:rPr lang="en-US" dirty="0"/>
              <a:t>.</a:t>
            </a:r>
          </a:p>
          <a:p>
            <a:r>
              <a:rPr lang="en-US" dirty="0"/>
              <a:t>It integrates natively with Databricks, Data Lake and Key Vault, which fits this design.</a:t>
            </a:r>
            <a:br>
              <a:rPr lang="en-US" dirty="0"/>
            </a:br>
            <a:r>
              <a:rPr lang="en-US" dirty="0"/>
              <a:t>It gives you visual pipelines, scheduling, monitoring and retry logic out of the box.</a:t>
            </a:r>
            <a:br>
              <a:rPr lang="en-US" dirty="0"/>
            </a:br>
            <a:r>
              <a:rPr lang="en-US" dirty="0"/>
              <a:t>And because it’s serverless, you only pay for the activities that actually run.</a:t>
            </a:r>
          </a:p>
          <a:p>
            <a:r>
              <a:rPr lang="en-US" dirty="0"/>
              <a:t>So ADF is a good, practical choice to coordinate the steps in this pipeline.”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6DC84F9-4C6C-327A-E33C-26947A869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29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5413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B5A7-B5C1-A30B-F3B3-108C2BF2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E0BCEA5-B1C0-EED7-BCCE-1FB227306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031FE05-C9C0-F9C6-39AA-B90424C68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ADF pipeline is structured into five main steps.</a:t>
            </a:r>
          </a:p>
          <a:p>
            <a:r>
              <a:rPr lang="en-US" b="1" dirty="0"/>
              <a:t>Ingest</a:t>
            </a:r>
            <a:r>
              <a:rPr lang="en-US" dirty="0"/>
              <a:t> – pull raw data from EPA, NHTSA and DOE into the raw layer.</a:t>
            </a:r>
          </a:p>
          <a:p>
            <a:r>
              <a:rPr lang="en-US" b="1" dirty="0"/>
              <a:t>Clean &amp; Enrich</a:t>
            </a:r>
            <a:r>
              <a:rPr lang="en-US" dirty="0"/>
              <a:t> – run the processing scripts to create cleaned datasets.</a:t>
            </a:r>
          </a:p>
          <a:p>
            <a:r>
              <a:rPr lang="en-US" b="1" dirty="0"/>
              <a:t>Integrate</a:t>
            </a:r>
            <a:r>
              <a:rPr lang="en-US" dirty="0"/>
              <a:t> – join the sources and build the three analytical CSVs.</a:t>
            </a:r>
          </a:p>
          <a:p>
            <a:r>
              <a:rPr lang="en-US" b="1" dirty="0"/>
              <a:t>Load to Delta</a:t>
            </a:r>
            <a:r>
              <a:rPr lang="en-US" dirty="0"/>
              <a:t> – create or replace the three Delta tables.</a:t>
            </a:r>
          </a:p>
          <a:p>
            <a:r>
              <a:rPr lang="en-US" b="1" dirty="0"/>
              <a:t>Validate &amp; Notify</a:t>
            </a:r>
            <a:r>
              <a:rPr lang="en-US" dirty="0"/>
              <a:t> – check row counts and schema and send a run summary.</a:t>
            </a:r>
          </a:p>
          <a:p>
            <a:r>
              <a:rPr lang="en-US" dirty="0"/>
              <a:t>If any step fails, the remaining steps are skipped and the pipeline sends an alert, so the issue can be investigated.”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F277B33-897C-DCAE-7E1E-8964C6A00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90949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7711-FFD1-7345-A9B1-6F6F89A6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A434740-E18F-1F7E-3DDA-40645B457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D2FFD42-FBD5-970D-BEC8-F891DC707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terms of ADF components, the pipeline uses: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Linked Services</a:t>
            </a:r>
            <a:r>
              <a:rPr lang="en-US" dirty="0"/>
              <a:t> to connect to Databricks, Azure Data Lake Storage and Key Vault;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Datasets</a:t>
            </a:r>
            <a:r>
              <a:rPr lang="en-US" dirty="0"/>
              <a:t> to represent the raw, processed and integrated layers;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Databricks job clusters</a:t>
            </a:r>
            <a:r>
              <a:rPr lang="en-US" dirty="0"/>
              <a:t> configured to auto-create and auto-terminate around the notebooks that do the heavy lifting;</a:t>
            </a:r>
            <a:br>
              <a:rPr lang="en-US" dirty="0"/>
            </a:br>
            <a:r>
              <a:rPr lang="en-US" dirty="0"/>
              <a:t>– and a </a:t>
            </a:r>
            <a:r>
              <a:rPr lang="en-US" b="1" dirty="0"/>
              <a:t>validation activity</a:t>
            </a:r>
            <a:r>
              <a:rPr lang="en-US" dirty="0"/>
              <a:t> that runs a few basic checks – like row counts and data types – before we consider the pipeline run successful.</a:t>
            </a:r>
          </a:p>
          <a:p>
            <a:r>
              <a:rPr lang="en-US" dirty="0"/>
              <a:t>This keeps the solution modular, cost-efficient and relatively easy to extend.”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9CB896E-8716-7A41-328A-88ADFAE3D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45993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C71F-E8E6-CDDD-973D-6A880E4D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A1C393E-BBD7-7137-9154-727CE2152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691327E-5680-1686-AA6A-2D5805DD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“Two main challenges were worth calling out.</a:t>
            </a:r>
          </a:p>
          <a:p>
            <a:r>
              <a:rPr lang="en-US" b="1" dirty="0"/>
              <a:t>First, vehicle matching across sources.</a:t>
            </a:r>
            <a:br>
              <a:rPr lang="en-US" dirty="0"/>
            </a:br>
            <a:r>
              <a:rPr lang="en-US" dirty="0"/>
              <a:t>There’s no shared vehicle ID between EPA and NHTSA, and naming can differ – for example ‘F150’ vs ‘F-150’.</a:t>
            </a: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normalised</a:t>
            </a:r>
            <a:r>
              <a:rPr lang="en-US" dirty="0"/>
              <a:t> make and model names and joined on year + make + model, and I document the limitations of that approach.</a:t>
            </a:r>
          </a:p>
          <a:p>
            <a:r>
              <a:rPr lang="en-US" b="1" dirty="0"/>
              <a:t>The second, and probably biggest challenge, was dual-fuel vehicles.</a:t>
            </a:r>
            <a:br>
              <a:rPr lang="en-US" dirty="0"/>
            </a:br>
            <a:r>
              <a:rPr lang="en-US" dirty="0"/>
              <a:t>Plug-in hybrids actually rely on two infrastructures – electricity and gasoline – and if we treat them as a single row, we under-represent their impact on infrastructure.</a:t>
            </a:r>
            <a:br>
              <a:rPr lang="en-US" dirty="0"/>
            </a:br>
            <a:r>
              <a:rPr lang="en-US" dirty="0"/>
              <a:t>The solution was the ‘exploded’ design I described earlier: one row per vehicle–fuel combination with a fuel rank.</a:t>
            </a:r>
            <a:br>
              <a:rPr lang="en-US" dirty="0"/>
            </a:br>
            <a:r>
              <a:rPr lang="en-US" dirty="0"/>
              <a:t>That means EV demand and gasoline demand are both counted properly when we </a:t>
            </a:r>
            <a:r>
              <a:rPr lang="en-US" dirty="0" err="1"/>
              <a:t>analyse</a:t>
            </a:r>
            <a:r>
              <a:rPr lang="en-US" dirty="0"/>
              <a:t> vehicles per station.</a:t>
            </a:r>
          </a:p>
          <a:p>
            <a:r>
              <a:rPr lang="en-US" dirty="0"/>
              <a:t>These two decisions – how to join and how to model dual-fuel – are key to making the results realistic and interpretable.”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0644D0F-0037-FE58-FDAD-15DDEDA37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97349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BD4A-4AB0-4EB7-00EA-6011EF59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0D84D2D-5150-0990-229E-D76C0F16A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884AB05-7498-ACAA-CF71-BD444028D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wrap up, this project delivers an </a:t>
            </a:r>
            <a:r>
              <a:rPr lang="en-US" b="1" dirty="0"/>
              <a:t>end-to-end pipeline</a:t>
            </a:r>
            <a:r>
              <a:rPr lang="en-US" dirty="0"/>
              <a:t> that integrates EPA, NHTSA and DOE data.</a:t>
            </a:r>
            <a:br>
              <a:rPr lang="en-US" dirty="0"/>
            </a:br>
            <a:r>
              <a:rPr lang="en-US" dirty="0"/>
              <a:t>It produces </a:t>
            </a:r>
            <a:r>
              <a:rPr lang="en-US" b="1" dirty="0"/>
              <a:t>clean, integrated, Delta-ready datasets</a:t>
            </a:r>
            <a:r>
              <a:rPr lang="en-US" dirty="0"/>
              <a:t> that combine fuel economy, reliability and infrastructure.</a:t>
            </a:r>
            <a:br>
              <a:rPr lang="en-US" dirty="0"/>
            </a:br>
            <a:r>
              <a:rPr lang="en-US" dirty="0"/>
              <a:t>On top of that, it includes a clear loading strategy and an automation design using Azure Data Factory and Databricks.</a:t>
            </a:r>
          </a:p>
          <a:p>
            <a:r>
              <a:rPr lang="en-US" dirty="0"/>
              <a:t>The result is a solid foundation for analytics and decision-making around vehicle safety, efficiency and alternative fuel infrastructure.</a:t>
            </a:r>
            <a:br>
              <a:rPr lang="en-US" dirty="0"/>
            </a:br>
            <a:r>
              <a:rPr lang="en-US" dirty="0"/>
              <a:t>Thanks for listening – I’m happy to go deeper into any part of the pipeline or the code.”</a:t>
            </a:r>
          </a:p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597ED04-511A-4C71-8BC6-EEAA8D90B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25017-EBB2-4EC1-9930-0281F5D6DBE0}" type="slidenum">
              <a:rPr lang="pt-PT" smtClean="0"/>
              <a:t>33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309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7356" y="753499"/>
            <a:ext cx="5123543" cy="1228951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540" y="2281241"/>
            <a:ext cx="4957994" cy="520020"/>
          </a:xfrm>
        </p:spPr>
        <p:txBody>
          <a:bodyPr anchor="ctr">
            <a:normAutofit/>
          </a:bodyPr>
          <a:lstStyle>
            <a:lvl1pPr marL="0" indent="0" algn="l">
              <a:buNone/>
              <a:defRPr sz="2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91174" y="2444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20CA5B5B-094D-46A3-AD7C-FCB4FFD9615D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52000" y="9000"/>
            <a:ext cx="6840000" cy="68400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1545540" y="3028584"/>
            <a:ext cx="4957994" cy="520020"/>
          </a:xfrm>
        </p:spPr>
        <p:txBody>
          <a:bodyPr anchor="ctr">
            <a:normAutofit/>
          </a:bodyPr>
          <a:lstStyle>
            <a:lvl1pPr>
              <a:defRPr sz="21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1545540" y="3775927"/>
            <a:ext cx="4957994" cy="520020"/>
          </a:xfrm>
        </p:spPr>
        <p:txBody>
          <a:bodyPr anchor="ctr">
            <a:normAutofit/>
          </a:bodyPr>
          <a:lstStyle>
            <a:lvl1pPr>
              <a:defRPr sz="21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1545540" y="4523270"/>
            <a:ext cx="4957994" cy="520020"/>
          </a:xfrm>
        </p:spPr>
        <p:txBody>
          <a:bodyPr anchor="ctr">
            <a:normAutofit/>
          </a:bodyPr>
          <a:lstStyle>
            <a:lvl1pPr>
              <a:defRPr sz="21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1545540" y="5270615"/>
            <a:ext cx="4957994" cy="520020"/>
          </a:xfrm>
        </p:spPr>
        <p:txBody>
          <a:bodyPr anchor="ctr">
            <a:normAutofit/>
          </a:bodyPr>
          <a:lstStyle>
            <a:lvl1pPr>
              <a:defRPr sz="21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14429" y="2281238"/>
            <a:ext cx="519113" cy="5207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714429" y="3028584"/>
            <a:ext cx="519113" cy="5207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25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714429" y="3795713"/>
            <a:ext cx="519113" cy="5207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26" name="Text Placehold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714429" y="4523270"/>
            <a:ext cx="519113" cy="5207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27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714429" y="5270615"/>
            <a:ext cx="519113" cy="5207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858001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3357" y="1250496"/>
            <a:ext cx="5484586" cy="1325563"/>
          </a:xfrm>
        </p:spPr>
        <p:txBody>
          <a:bodyPr/>
          <a:lstStyle/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53810" y="2829605"/>
            <a:ext cx="5484813" cy="375680"/>
          </a:xfrm>
        </p:spPr>
        <p:txBody>
          <a:bodyPr>
            <a:spAutoFit/>
          </a:bodyPr>
          <a:lstStyle>
            <a:lvl1pPr>
              <a:lnSpc>
                <a:spcPct val="150000"/>
              </a:lnSpc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E0D74F42-03BD-4A82-9463-2EE031C4655E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New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3357" y="1250496"/>
            <a:ext cx="5484586" cy="1325563"/>
          </a:xfrm>
        </p:spPr>
        <p:txBody>
          <a:bodyPr/>
          <a:lstStyle/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53810" y="2829605"/>
            <a:ext cx="5484813" cy="375680"/>
          </a:xfrm>
        </p:spPr>
        <p:txBody>
          <a:bodyPr>
            <a:spAutoFit/>
          </a:bodyPr>
          <a:lstStyle>
            <a:lvl1pPr>
              <a:lnSpc>
                <a:spcPct val="150000"/>
              </a:lnSpc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CBA23FBB-876D-4EB9-9858-B2518621FCC4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705599" y="0"/>
            <a:ext cx="5486401" cy="6858001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New 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27096" y="1474211"/>
            <a:ext cx="5484586" cy="1325563"/>
          </a:xfrm>
        </p:spPr>
        <p:txBody>
          <a:bodyPr/>
          <a:lstStyle/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327549" y="3053320"/>
            <a:ext cx="5484813" cy="375680"/>
          </a:xfrm>
        </p:spPr>
        <p:txBody>
          <a:bodyPr>
            <a:spAutoFit/>
          </a:bodyPr>
          <a:lstStyle>
            <a:lvl1pPr>
              <a:lnSpc>
                <a:spcPct val="150000"/>
              </a:lnSpc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BA1F9C78-B512-4476-8D10-0FAF586CC500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86401" cy="6858001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59895" y="0"/>
            <a:ext cx="4325257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901DA67-1899-41B4-B8DA-79E56E658F15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69938" y="730250"/>
            <a:ext cx="3336925" cy="2071007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9938" y="3048113"/>
            <a:ext cx="3336925" cy="287371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5288189" y="1006248"/>
            <a:ext cx="2752725" cy="2202180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8662761" y="1006248"/>
            <a:ext cx="2752725" cy="2202180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674130"/>
            <a:ext cx="12192000" cy="4291241"/>
          </a:xfrm>
          <a:prstGeom prst="rect">
            <a:avLst/>
          </a:prstGeom>
          <a:solidFill>
            <a:schemeClr val="tx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3508" y="365124"/>
            <a:ext cx="7412264" cy="107700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9835" y="2375747"/>
            <a:ext cx="4438651" cy="375680"/>
          </a:xfrm>
        </p:spPr>
        <p:txBody>
          <a:bodyPr anchor="ctr">
            <a:sp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E6F9101E-5474-46A6-A7D7-4D33CA33D5E1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6849835" y="3514038"/>
            <a:ext cx="4438651" cy="375680"/>
          </a:xfrm>
        </p:spPr>
        <p:txBody>
          <a:bodyPr anchor="ctr">
            <a:sp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4"/>
          </p:nvPr>
        </p:nvSpPr>
        <p:spPr>
          <a:xfrm>
            <a:off x="6849835" y="4652328"/>
            <a:ext cx="4438651" cy="375680"/>
          </a:xfrm>
        </p:spPr>
        <p:txBody>
          <a:bodyPr anchor="ctr">
            <a:sp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0"/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946320" y="2308723"/>
            <a:ext cx="574244" cy="576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21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12" name="Text Placeholder 20"/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946320" y="3420664"/>
            <a:ext cx="574244" cy="576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21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13" name="Text Placeholder 20"/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5946320" y="4600682"/>
            <a:ext cx="574244" cy="576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 anchor="ctr">
            <a:noAutofit/>
          </a:bodyPr>
          <a:lstStyle>
            <a:lvl1pPr algn="ctr">
              <a:defRPr sz="21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ID" dirty="0"/>
              <a:t>#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21"/>
          </p:nvPr>
        </p:nvSpPr>
        <p:spPr>
          <a:xfrm>
            <a:off x="1094580" y="2465495"/>
            <a:ext cx="2655888" cy="2655887"/>
          </a:xfrm>
          <a:prstGeom prst="ellipse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-15240" y="0"/>
            <a:ext cx="12240000" cy="6858000"/>
          </a:xfrm>
        </p:spPr>
        <p:txBody>
          <a:bodyPr/>
          <a:lstStyle/>
          <a:p>
            <a:endParaRPr lang="en-ID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65124"/>
            <a:ext cx="12192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74F2FC66-0942-45A2-BFDE-EDF9EA43DC8E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365124"/>
            <a:ext cx="12192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E5851A3F-4D3D-4B7C-971D-5BFF3B706C5C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/>
          <p:cNvSpPr>
            <a:spLocks noGrp="1"/>
          </p:cNvSpPr>
          <p:nvPr>
            <p:ph type="pic" sz="quarter" idx="25"/>
          </p:nvPr>
        </p:nvSpPr>
        <p:spPr>
          <a:xfrm>
            <a:off x="10509942" y="4624026"/>
            <a:ext cx="1682058" cy="2242744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endParaRPr lang="en-ID"/>
          </a:p>
        </p:txBody>
      </p:sp>
      <p:sp>
        <p:nvSpPr>
          <p:cNvPr id="8" name="AutoShape 6"/>
          <p:cNvSpPr/>
          <p:nvPr userDrawn="1"/>
        </p:nvSpPr>
        <p:spPr>
          <a:xfrm>
            <a:off x="0" y="0"/>
            <a:ext cx="574484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80137"/>
            <a:ext cx="3932237" cy="1754326"/>
          </a:xfrm>
        </p:spPr>
        <p:txBody>
          <a:bodyPr anchor="ctr">
            <a:spAutoFit/>
          </a:bodyPr>
          <a:lstStyle>
            <a:lvl1pPr>
              <a:defRPr sz="6000"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85416"/>
            <a:ext cx="3932237" cy="416268"/>
          </a:xfrm>
        </p:spPr>
        <p:txBody>
          <a:bodyPr>
            <a:sp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773" y="931223"/>
            <a:ext cx="4218659" cy="335220"/>
          </a:xfrm>
        </p:spPr>
        <p:txBody>
          <a:bodyPr wrap="square">
            <a:spAutoFit/>
          </a:bodyPr>
          <a:lstStyle>
            <a:lvl1pPr>
              <a:lnSpc>
                <a:spcPct val="150000"/>
              </a:lnSpc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6095773" y="424428"/>
            <a:ext cx="3108325" cy="383182"/>
          </a:xfrm>
        </p:spPr>
        <p:txBody>
          <a:bodyPr>
            <a:spAutoFit/>
          </a:bodyPr>
          <a:lstStyle>
            <a:lvl1pPr>
              <a:defRPr sz="2100"/>
            </a:lvl1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095773" y="2203722"/>
            <a:ext cx="4218659" cy="335220"/>
          </a:xfrm>
        </p:spPr>
        <p:txBody>
          <a:bodyPr wrap="square">
            <a:spAutoFit/>
          </a:bodyPr>
          <a:lstStyle>
            <a:lvl1pPr>
              <a:lnSpc>
                <a:spcPct val="150000"/>
              </a:lnSpc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95773" y="1696927"/>
            <a:ext cx="3108325" cy="383182"/>
          </a:xfrm>
        </p:spPr>
        <p:txBody>
          <a:bodyPr>
            <a:spAutoFit/>
          </a:bodyPr>
          <a:lstStyle>
            <a:lvl1pPr>
              <a:defRPr sz="2100"/>
            </a:lvl1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095773" y="3524183"/>
            <a:ext cx="4218659" cy="335220"/>
          </a:xfrm>
        </p:spPr>
        <p:txBody>
          <a:bodyPr wrap="square">
            <a:spAutoFit/>
          </a:bodyPr>
          <a:lstStyle>
            <a:lvl1pPr>
              <a:lnSpc>
                <a:spcPct val="150000"/>
              </a:lnSpc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6095773" y="3017388"/>
            <a:ext cx="3108325" cy="383182"/>
          </a:xfrm>
        </p:spPr>
        <p:txBody>
          <a:bodyPr>
            <a:spAutoFit/>
          </a:bodyPr>
          <a:lstStyle>
            <a:lvl1pPr>
              <a:defRPr sz="2100"/>
            </a:lvl1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9"/>
          </p:nvPr>
        </p:nvSpPr>
        <p:spPr>
          <a:xfrm>
            <a:off x="6095773" y="4847420"/>
            <a:ext cx="4218659" cy="335220"/>
          </a:xfrm>
        </p:spPr>
        <p:txBody>
          <a:bodyPr wrap="square">
            <a:spAutoFit/>
          </a:bodyPr>
          <a:lstStyle>
            <a:lvl1pPr>
              <a:lnSpc>
                <a:spcPct val="150000"/>
              </a:lnSpc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6095773" y="4340625"/>
            <a:ext cx="3108325" cy="383182"/>
          </a:xfrm>
        </p:spPr>
        <p:txBody>
          <a:bodyPr>
            <a:spAutoFit/>
          </a:bodyPr>
          <a:lstStyle>
            <a:lvl1pPr>
              <a:defRPr sz="2100"/>
            </a:lvl1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6095773" y="6098352"/>
            <a:ext cx="4218659" cy="335220"/>
          </a:xfrm>
        </p:spPr>
        <p:txBody>
          <a:bodyPr wrap="square">
            <a:spAutoFit/>
          </a:bodyPr>
          <a:lstStyle>
            <a:lvl1pPr>
              <a:lnSpc>
                <a:spcPct val="150000"/>
              </a:lnSpc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6095773" y="5591557"/>
            <a:ext cx="3108325" cy="383182"/>
          </a:xfrm>
        </p:spPr>
        <p:txBody>
          <a:bodyPr>
            <a:spAutoFit/>
          </a:bodyPr>
          <a:lstStyle>
            <a:lvl1pPr>
              <a:defRPr sz="2100"/>
            </a:lvl1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23"/>
          </p:nvPr>
        </p:nvSpPr>
        <p:spPr>
          <a:xfrm>
            <a:off x="10511183" y="-2446"/>
            <a:ext cx="1682058" cy="2242744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endParaRPr lang="en-ID"/>
          </a:p>
        </p:txBody>
      </p:sp>
      <p:sp>
        <p:nvSpPr>
          <p:cNvPr id="27" name="Picture Placeholder 25"/>
          <p:cNvSpPr>
            <a:spLocks noGrp="1"/>
          </p:cNvSpPr>
          <p:nvPr>
            <p:ph type="pic" sz="quarter" idx="24"/>
          </p:nvPr>
        </p:nvSpPr>
        <p:spPr>
          <a:xfrm>
            <a:off x="10509942" y="2310790"/>
            <a:ext cx="1682058" cy="2242744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6611" y="5423731"/>
            <a:ext cx="5157787" cy="424732"/>
          </a:xfrm>
        </p:spPr>
        <p:txBody>
          <a:bodyPr anchor="b">
            <a:sp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1690688"/>
            <a:ext cx="5157787" cy="3684588"/>
          </a:xfrm>
        </p:spPr>
        <p:txBody>
          <a:bodyPr/>
          <a:lstStyle>
            <a:lvl2pPr>
              <a:defRPr>
                <a:latin typeface="STIX Two Text" pitchFamily="2" charset="0"/>
              </a:defRPr>
            </a:lvl2pPr>
            <a:lvl3pPr>
              <a:defRPr>
                <a:latin typeface="STIX Two Text" pitchFamily="2" charset="0"/>
              </a:defRPr>
            </a:lvl3pPr>
            <a:lvl4pPr>
              <a:defRPr>
                <a:latin typeface="STIX Two Text" pitchFamily="2" charset="0"/>
              </a:defRPr>
            </a:lvl4pPr>
            <a:lvl5pPr>
              <a:defRPr>
                <a:latin typeface="STIX Two Tex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3" y="1690688"/>
            <a:ext cx="5183188" cy="424732"/>
          </a:xfrm>
        </p:spPr>
        <p:txBody>
          <a:bodyPr anchor="b">
            <a:sp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4FC8AEB7-74A8-4F29-87BD-4DA8A13C4F74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97600" y="2378075"/>
            <a:ext cx="5183188" cy="286232"/>
          </a:xfrm>
        </p:spPr>
        <p:txBody>
          <a:bodyPr>
            <a:spAutoFit/>
          </a:bodyPr>
          <a:lstStyle>
            <a:lvl1pPr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6"/>
          <p:cNvSpPr/>
          <p:nvPr userDrawn="1"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52" y="1690688"/>
            <a:ext cx="5157788" cy="1325563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859536"/>
            <a:ext cx="5157787" cy="4956048"/>
          </a:xfrm>
        </p:spPr>
        <p:txBody>
          <a:bodyPr>
            <a:normAutofit/>
          </a:bodyPr>
          <a:lstStyle>
            <a:lvl1pPr>
              <a:defRPr sz="2500"/>
            </a:lvl1pPr>
            <a:lvl2pPr>
              <a:defRPr sz="2500">
                <a:latin typeface="STIX Two Text" pitchFamily="2" charset="0"/>
              </a:defRPr>
            </a:lvl2pPr>
            <a:lvl3pPr>
              <a:defRPr>
                <a:latin typeface="STIX Two Text" pitchFamily="2" charset="0"/>
              </a:defRPr>
            </a:lvl3pPr>
            <a:lvl4pPr>
              <a:defRPr>
                <a:latin typeface="STIX Two Text" pitchFamily="2" charset="0"/>
              </a:defRPr>
            </a:lvl4pPr>
            <a:lvl5pPr>
              <a:defRPr>
                <a:latin typeface="STIX Two Tex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ID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EADEFBC2-0F49-4338-8F94-15058C81DF86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98552" y="3703638"/>
            <a:ext cx="5183188" cy="286232"/>
          </a:xfrm>
        </p:spPr>
        <p:txBody>
          <a:bodyPr>
            <a:spAutoFit/>
          </a:bodyPr>
          <a:lstStyle>
            <a:lvl1pPr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698552" y="3115374"/>
            <a:ext cx="5183188" cy="438582"/>
          </a:xfrm>
        </p:spPr>
        <p:txBody>
          <a:bodyPr>
            <a:spAutoFit/>
          </a:bodyPr>
          <a:lstStyle>
            <a:lvl1pPr>
              <a:defRPr sz="25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 Picture Dow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en-ID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5124" y="4212543"/>
            <a:ext cx="5157788" cy="1325563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492082" y="4212543"/>
            <a:ext cx="5183188" cy="286232"/>
          </a:xfrm>
        </p:spPr>
        <p:txBody>
          <a:bodyPr>
            <a:spAutoFit/>
          </a:bodyPr>
          <a:lstStyle>
            <a:lvl1pPr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</a:t>
            </a:r>
          </a:p>
        </p:txBody>
      </p:sp>
      <p:sp>
        <p:nvSpPr>
          <p:cNvPr id="2" name="Rectangles 1"/>
          <p:cNvSpPr/>
          <p:nvPr userDrawn="1"/>
        </p:nvSpPr>
        <p:spPr>
          <a:xfrm>
            <a:off x="-635" y="-3810"/>
            <a:ext cx="12211050" cy="343281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8"/>
          <p:cNvSpPr/>
          <p:nvPr userDrawn="1"/>
        </p:nvSpPr>
        <p:spPr bwMode="auto">
          <a:xfrm>
            <a:off x="0" y="6012815"/>
            <a:ext cx="12192000" cy="8451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638" y="365124"/>
            <a:ext cx="6836736" cy="715581"/>
          </a:xfrm>
        </p:spPr>
        <p:txBody>
          <a:bodyPr anchor="t">
            <a:spAutoFit/>
          </a:bodyPr>
          <a:lstStyle>
            <a:lvl1pPr>
              <a:defRPr sz="4500"/>
            </a:lvl1pPr>
          </a:lstStyle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CBDE0EC-160D-4D32-875A-DADFF945485D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79638" y="1359443"/>
            <a:ext cx="5183188" cy="293670"/>
          </a:xfrm>
        </p:spPr>
        <p:txBody>
          <a:bodyPr vert="horz" lIns="91440" tIns="45720" rIns="91440" bIns="45720" rtlCol="0">
            <a:spAutoFit/>
          </a:bodyPr>
          <a:lstStyle>
            <a:lvl1pPr>
              <a:defRPr lang="en-US" sz="1200" dirty="0"/>
            </a:lvl1pPr>
          </a:lstStyle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Click to edit text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333744" y="1359443"/>
            <a:ext cx="5183188" cy="293670"/>
          </a:xfrm>
        </p:spPr>
        <p:txBody>
          <a:bodyPr>
            <a:spAutoFit/>
          </a:bodyPr>
          <a:lstStyle>
            <a:lvl1pPr marL="342900" indent="-342900">
              <a:lnSpc>
                <a:spcPct val="120000"/>
              </a:lnSpc>
              <a:buFont typeface="+mj-lt"/>
              <a:buAutoNum type="arabicPeriod"/>
              <a:defRPr sz="12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14000">
              <a:schemeClr val="tx1">
                <a:lumMod val="50000"/>
                <a:lumOff val="50000"/>
              </a:schemeClr>
            </a:gs>
            <a:gs pos="100000">
              <a:schemeClr val="tx1">
                <a:lumMod val="50000"/>
                <a:lumOff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/>
          <p:cNvSpPr txBox="1"/>
          <p:nvPr userDrawn="1"/>
        </p:nvSpPr>
        <p:spPr>
          <a:xfrm>
            <a:off x="506413" y="4901247"/>
            <a:ext cx="490791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4500" dirty="0">
                <a:solidFill>
                  <a:schemeClr val="bg1"/>
                </a:solidFill>
                <a:latin typeface="Intro Caps-Trial Rg" panose="02000000000000000000" charset="0"/>
                <a:ea typeface="Nunito" charset="0"/>
                <a:cs typeface="Intro Caps-Trial Rg" panose="02000000000000000000" charset="0"/>
              </a:rPr>
              <a:t>Thank</a:t>
            </a:r>
            <a:r>
              <a:rPr lang="en-ID" altLang="id-ID" sz="4500" dirty="0">
                <a:solidFill>
                  <a:schemeClr val="bg1"/>
                </a:solidFill>
                <a:latin typeface="Intro Caps-Trial Rg" panose="02000000000000000000" charset="0"/>
                <a:ea typeface="Nunito" charset="0"/>
                <a:cs typeface="Intro Caps-Trial Rg" panose="02000000000000000000" charset="0"/>
              </a:rPr>
              <a:t> </a:t>
            </a:r>
            <a:r>
              <a:rPr lang="id-ID" sz="4500" dirty="0">
                <a:solidFill>
                  <a:schemeClr val="bg1"/>
                </a:solidFill>
                <a:latin typeface="Intro Caps-Trial Rg" panose="02000000000000000000" charset="0"/>
                <a:ea typeface="Nunito" charset="0"/>
                <a:cs typeface="Intro Caps-Trial Rg" panose="02000000000000000000" charset="0"/>
              </a:rPr>
              <a:t>you </a:t>
            </a:r>
          </a:p>
          <a:p>
            <a:r>
              <a:rPr lang="id-ID" dirty="0">
                <a:solidFill>
                  <a:schemeClr val="bg1"/>
                </a:solidFill>
                <a:latin typeface="Intro Caps-Trial Rg" panose="02000000000000000000" charset="0"/>
                <a:ea typeface="Nunito" charset="0"/>
                <a:cs typeface="Intro Caps-Trial Rg" panose="02000000000000000000" charset="0"/>
              </a:rPr>
              <a:t>For Using Our Template</a:t>
            </a:r>
          </a:p>
        </p:txBody>
      </p:sp>
      <p:pic>
        <p:nvPicPr>
          <p:cNvPr id="7" name="Picture 6" descr="Slide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6413" y="3600767"/>
            <a:ext cx="1189990" cy="1189990"/>
          </a:xfrm>
          <a:prstGeom prst="ellipse">
            <a:avLst/>
          </a:prstGeom>
        </p:spPr>
      </p:pic>
      <p:sp>
        <p:nvSpPr>
          <p:cNvPr id="9" name="Text Box 5"/>
          <p:cNvSpPr txBox="1"/>
          <p:nvPr userDrawn="1"/>
        </p:nvSpPr>
        <p:spPr>
          <a:xfrm>
            <a:off x="526098" y="5985192"/>
            <a:ext cx="3121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altLang="en-US" sz="1200">
                <a:solidFill>
                  <a:schemeClr val="bg1"/>
                </a:solidFill>
                <a:latin typeface="Aller" panose="02000503030000020004" charset="0"/>
                <a:ea typeface="Nunito" charset="0"/>
                <a:cs typeface="Aller" panose="02000503030000020004" charset="0"/>
              </a:rPr>
              <a:t>Scienceslide.com</a:t>
            </a:r>
          </a:p>
        </p:txBody>
      </p:sp>
      <p:pic>
        <p:nvPicPr>
          <p:cNvPr id="8" name="Picture 7" descr="New Transparent"/>
          <p:cNvPicPr>
            <a:picLocks noChangeAspect="1"/>
          </p:cNvPicPr>
          <p:nvPr userDrawn="1"/>
        </p:nvPicPr>
        <p:blipFill>
          <a:blip r:embed="rId3">
            <a:alphaModFix amt="20000"/>
            <a:lum bright="100000"/>
          </a:blip>
          <a:stretch>
            <a:fillRect/>
          </a:stretch>
        </p:blipFill>
        <p:spPr>
          <a:xfrm>
            <a:off x="4868863" y="20637"/>
            <a:ext cx="6816725" cy="68167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072" y="1613354"/>
            <a:ext cx="5484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1072" y="3073854"/>
            <a:ext cx="5484586" cy="219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4" y="63216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STIX Two Text" pitchFamily="2" charset="0"/>
              </a:defRPr>
            </a:lvl1pPr>
          </a:lstStyle>
          <a:p>
            <a:endParaRPr lang="en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9069162" y="365124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8ABBB4AF-B4CB-4F50-8827-0FCF5F3363CB}" type="datetime1">
              <a:rPr lang="en-ID" smtClean="0"/>
              <a:t>12/11/25</a:t>
            </a:fld>
            <a:endParaRPr lang="en-ID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3676" y="63216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 b="1">
                <a:latin typeface="STIX Two Text" pitchFamily="2" charset="0"/>
              </a:defRPr>
            </a:lvl1pPr>
          </a:lstStyle>
          <a:p>
            <a:fld id="{6C632F1B-FC76-4EE6-83A7-EA242D6E7603}" type="slidenum">
              <a:rPr lang="en-ID" smtClean="0"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STIX Two Tex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500" kern="1200">
          <a:solidFill>
            <a:schemeClr val="tx1"/>
          </a:solidFill>
          <a:latin typeface="STIX Two Tex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jpe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r="695"/>
          <a:stretch>
            <a:fillRect/>
          </a:stretch>
        </p:blipFill>
        <p:spPr/>
      </p:pic>
      <p:sp>
        <p:nvSpPr>
          <p:cNvPr id="18" name="Rectangles 3"/>
          <p:cNvSpPr/>
          <p:nvPr/>
        </p:nvSpPr>
        <p:spPr>
          <a:xfrm>
            <a:off x="0" y="0"/>
            <a:ext cx="6851650" cy="685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>
                  <a:alpha val="50000"/>
                </a:schemeClr>
              </a:gs>
              <a:gs pos="58000">
                <a:schemeClr val="bg1">
                  <a:alpha val="70000"/>
                </a:schemeClr>
              </a:gs>
              <a:gs pos="100000">
                <a:schemeClr val="bg1"/>
              </a:gs>
            </a:gsLst>
            <a:lin ang="8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19" name="Rounded Rectangle 10"/>
          <p:cNvSpPr/>
          <p:nvPr/>
        </p:nvSpPr>
        <p:spPr>
          <a:xfrm>
            <a:off x="718820" y="4638992"/>
            <a:ext cx="5095875" cy="59245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ID" altLang="en-US">
              <a:latin typeface="STIX Two Text" pitchFamily="2" charset="0"/>
              <a:cs typeface="STIX Two Text" pitchFamily="2" charset="0"/>
              <a:sym typeface="+mn-ea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718819" y="2387738"/>
            <a:ext cx="6132831" cy="584071"/>
          </a:xfrm>
        </p:spPr>
        <p:txBody>
          <a:bodyPr wrap="square">
            <a:spAutoFit/>
          </a:bodyPr>
          <a:lstStyle/>
          <a:p>
            <a:r>
              <a:rPr lang="en-ID" sz="3500" dirty="0"/>
              <a:t>Automotive Data Pipeline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718819" y="3200925"/>
            <a:ext cx="7921328" cy="847476"/>
          </a:xfrm>
        </p:spPr>
        <p:txBody>
          <a:bodyPr/>
          <a:lstStyle/>
          <a:p>
            <a:r>
              <a:rPr lang="en-ID" sz="3600" b="1" dirty="0"/>
              <a:t>Data Engineer - Assessment</a:t>
            </a:r>
          </a:p>
        </p:txBody>
      </p:sp>
      <p:sp>
        <p:nvSpPr>
          <p:cNvPr id="21" name="Text Box 15"/>
          <p:cNvSpPr txBox="1"/>
          <p:nvPr/>
        </p:nvSpPr>
        <p:spPr>
          <a:xfrm>
            <a:off x="1034415" y="4713922"/>
            <a:ext cx="4114165" cy="4250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sz="1900" b="1" dirty="0">
                <a:latin typeface="STIX Two Text" pitchFamily="2" charset="0"/>
                <a:cs typeface="STIX Two Text" pitchFamily="2" charset="0"/>
                <a:sym typeface="+mn-ea"/>
              </a:rPr>
              <a:t>Diogo Gomes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599DBC8-42A1-0F96-B94E-989B4A6AE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53" y="464948"/>
            <a:ext cx="2660644" cy="59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54224" y="928207"/>
            <a:ext cx="5123543" cy="1228951"/>
          </a:xfrm>
        </p:spPr>
        <p:txBody>
          <a:bodyPr/>
          <a:lstStyle/>
          <a:p>
            <a:r>
              <a:rPr lang="en-ID" sz="5400" dirty="0"/>
              <a:t>Contents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619280" y="2192753"/>
            <a:ext cx="4957994" cy="520020"/>
          </a:xfrm>
        </p:spPr>
        <p:txBody>
          <a:bodyPr/>
          <a:lstStyle/>
          <a:p>
            <a:r>
              <a:rPr lang="en-ID" sz="1600" dirty="0"/>
              <a:t>Introduction</a:t>
            </a:r>
            <a:endParaRPr lang="en-ID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1619280" y="2940096"/>
            <a:ext cx="4957994" cy="520020"/>
          </a:xfrm>
        </p:spPr>
        <p:txBody>
          <a:bodyPr>
            <a:normAutofit/>
          </a:bodyPr>
          <a:lstStyle/>
          <a:p>
            <a:r>
              <a:rPr lang="en-ID" sz="1600" dirty="0"/>
              <a:t>Architecture &amp; Data Acquisition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1619280" y="3687439"/>
            <a:ext cx="4957994" cy="520020"/>
          </a:xfrm>
        </p:spPr>
        <p:txBody>
          <a:bodyPr>
            <a:normAutofit/>
          </a:bodyPr>
          <a:lstStyle/>
          <a:p>
            <a:r>
              <a:rPr lang="en-ID" sz="1600" dirty="0"/>
              <a:t>Data Processing &amp; Transformation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619280" y="4434782"/>
            <a:ext cx="4957994" cy="520020"/>
          </a:xfrm>
        </p:spPr>
        <p:txBody>
          <a:bodyPr>
            <a:normAutofit/>
          </a:bodyPr>
          <a:lstStyle/>
          <a:p>
            <a:r>
              <a:rPr lang="en-ID" sz="1600" dirty="0"/>
              <a:t>Loading Strategy &amp; Automation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1619280" y="5182127"/>
            <a:ext cx="4957994" cy="520020"/>
          </a:xfrm>
        </p:spPr>
        <p:txBody>
          <a:bodyPr>
            <a:normAutofit/>
          </a:bodyPr>
          <a:lstStyle/>
          <a:p>
            <a:r>
              <a:rPr lang="en-ID" sz="1600" dirty="0"/>
              <a:t>Results, Validation &amp; Data Quality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788169" y="2192750"/>
            <a:ext cx="519113" cy="520700"/>
          </a:xfr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sz="1700">
                <a:latin typeface="STIX Two Text" pitchFamily="2" charset="0"/>
                <a:cs typeface="STIX Two Text" pitchFamily="2" charset="0"/>
                <a:sym typeface="+mn-ea"/>
              </a:rPr>
              <a:t>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/>
          </p:nvPr>
        </p:nvSpPr>
        <p:spPr>
          <a:xfrm>
            <a:off x="788169" y="2940096"/>
            <a:ext cx="519113" cy="520700"/>
          </a:xfr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sz="1700">
                <a:latin typeface="STIX Two Text" pitchFamily="2" charset="0"/>
                <a:cs typeface="STIX Two Text" pitchFamily="2" charset="0"/>
                <a:sym typeface="+mn-ea"/>
              </a:rPr>
              <a:t>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/>
          </p:nvPr>
        </p:nvSpPr>
        <p:spPr>
          <a:xfrm>
            <a:off x="788169" y="3707225"/>
            <a:ext cx="519113" cy="520700"/>
          </a:xfr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sz="1700">
                <a:latin typeface="STIX Two Text" pitchFamily="2" charset="0"/>
                <a:cs typeface="STIX Two Text" pitchFamily="2" charset="0"/>
                <a:sym typeface="+mn-ea"/>
              </a:rPr>
              <a:t>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1"/>
          </p:nvPr>
        </p:nvSpPr>
        <p:spPr>
          <a:xfrm>
            <a:off x="788169" y="4434782"/>
            <a:ext cx="519113" cy="520700"/>
          </a:xfr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sz="1700">
                <a:latin typeface="STIX Two Text" pitchFamily="2" charset="0"/>
                <a:cs typeface="STIX Two Text" pitchFamily="2" charset="0"/>
                <a:sym typeface="+mn-ea"/>
              </a:rPr>
              <a:t>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788169" y="5182127"/>
            <a:ext cx="519113" cy="520700"/>
          </a:xfr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sz="1700" dirty="0">
                <a:latin typeface="STIX Two Text" pitchFamily="2" charset="0"/>
                <a:cs typeface="STIX Two Text" pitchFamily="2" charset="0"/>
                <a:sym typeface="+mn-ea"/>
              </a:rPr>
              <a:t>5</a:t>
            </a:r>
          </a:p>
        </p:txBody>
      </p:sp>
      <p:pic>
        <p:nvPicPr>
          <p:cNvPr id="22" name="Picture Placeholder 21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>
            <a:fillRect/>
          </a:stretch>
        </p:blipFill>
        <p:spPr>
          <a:xfrm>
            <a:off x="5265175" y="-1"/>
            <a:ext cx="6941574" cy="6858001"/>
          </a:xfr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08E80E26-CD0A-7152-E9B1-FFD42FBDE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</a:t>
            </a:fld>
            <a:endParaRPr lang="en-ID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CDE88A5-5E0B-8236-A7D3-FEDFB67B2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EECF04B-4668-CE77-C502-249B26B6CF24}"/>
              </a:ext>
            </a:extLst>
          </p:cNvPr>
          <p:cNvSpPr txBox="1">
            <a:spLocks/>
          </p:cNvSpPr>
          <p:nvPr/>
        </p:nvSpPr>
        <p:spPr>
          <a:xfrm>
            <a:off x="1619280" y="5873032"/>
            <a:ext cx="4957994" cy="52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STIX Two Text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1600" dirty="0"/>
              <a:t>Conclusion &amp; Next Steps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97B5281-F3AE-945C-94A4-04A6D3AD6C70}"/>
              </a:ext>
            </a:extLst>
          </p:cNvPr>
          <p:cNvSpPr txBox="1">
            <a:spLocks/>
          </p:cNvSpPr>
          <p:nvPr/>
        </p:nvSpPr>
        <p:spPr>
          <a:xfrm>
            <a:off x="788169" y="5873032"/>
            <a:ext cx="519113" cy="520700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Tx/>
              <a:buNone/>
            </a:pPr>
            <a:r>
              <a:rPr lang="en-US" sz="1700" dirty="0">
                <a:latin typeface="STIX Two Text" pitchFamily="2" charset="0"/>
                <a:cs typeface="STIX Two Text" pitchFamily="2" charset="0"/>
                <a:sym typeface="+mn-ea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0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7" name="Arc 1042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3224"/>
            <a:ext cx="1051559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93727" y="2422918"/>
            <a:ext cx="5023599" cy="3037603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sym typeface="+mn-ea"/>
              </a:rPr>
              <a:t>The automotive industry increasingly relies on data to monitor safety, performance and infrastructure trends</a:t>
            </a:r>
          </a:p>
          <a:p>
            <a:pPr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sym typeface="+mn-ea"/>
              </a:rPr>
              <a:t>This assessment focuses on building an end-to-end pipeline for publicly available datasets</a:t>
            </a:r>
          </a:p>
          <a:p>
            <a:pPr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sym typeface="+mn-ea"/>
              </a:rPr>
              <a:t>The goal is to automate acquisition, cleaning, transformation and simulate loading of vehicle-related datasets</a:t>
            </a:r>
          </a:p>
          <a:p>
            <a:pPr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sym typeface="+mn-ea"/>
              </a:rPr>
              <a:t>The pipeline supports analysis of safety complaints, fuel economy and alternative fuel infrastructure</a:t>
            </a:r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61DEB1-B82D-67E1-681C-D4778E32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20000"/>
          <a:stretch/>
        </p:blipFill>
        <p:spPr bwMode="auto"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CCE25CB-57C0-F911-81F0-A05DB4F36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3</a:t>
            </a:fld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F0E21-1613-2A94-E836-606D68B3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2"/>
          <p:cNvSpPr/>
          <p:nvPr/>
        </p:nvSpPr>
        <p:spPr>
          <a:xfrm>
            <a:off x="690377" y="1902563"/>
            <a:ext cx="3748888" cy="3748888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sz="1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5252519" y="2227643"/>
            <a:ext cx="5584539" cy="3152401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Build</a:t>
            </a:r>
            <a:r>
              <a:rPr lang="pt-PT" sz="1600" dirty="0">
                <a:latin typeface="STIX Two Text" pitchFamily="2" charset="0"/>
                <a:cs typeface="STIX Two Text" pitchFamily="2" charset="0"/>
                <a:sym typeface="+mn-ea"/>
              </a:rPr>
              <a:t> </a:t>
            </a: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an</a:t>
            </a:r>
            <a:r>
              <a:rPr lang="pt-PT" sz="1600" dirty="0">
                <a:latin typeface="STIX Two Text" pitchFamily="2" charset="0"/>
                <a:cs typeface="STIX Two Text" pitchFamily="2" charset="0"/>
                <a:sym typeface="+mn-ea"/>
              </a:rPr>
              <a:t> </a:t>
            </a: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end</a:t>
            </a:r>
            <a:r>
              <a:rPr lang="pt-PT" sz="1600" dirty="0">
                <a:latin typeface="STIX Two Text" pitchFamily="2" charset="0"/>
                <a:cs typeface="STIX Two Text" pitchFamily="2" charset="0"/>
                <a:sym typeface="+mn-ea"/>
              </a:rPr>
              <a:t>-to-</a:t>
            </a: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end</a:t>
            </a:r>
            <a:r>
              <a:rPr lang="pt-PT" sz="1600" dirty="0">
                <a:latin typeface="STIX Two Text" pitchFamily="2" charset="0"/>
                <a:cs typeface="STIX Two Text" pitchFamily="2" charset="0"/>
                <a:sym typeface="+mn-ea"/>
              </a:rPr>
              <a:t> pipeline to </a:t>
            </a: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ingest</a:t>
            </a:r>
            <a:r>
              <a:rPr lang="pt-PT" sz="1600" dirty="0">
                <a:latin typeface="STIX Two Text" pitchFamily="2" charset="0"/>
                <a:cs typeface="STIX Two Text" pitchFamily="2" charset="0"/>
                <a:sym typeface="+mn-ea"/>
              </a:rPr>
              <a:t>, </a:t>
            </a:r>
            <a:r>
              <a:rPr lang="pt-PT" sz="1600" dirty="0" err="1">
                <a:latin typeface="STIX Two Text" pitchFamily="2" charset="0"/>
                <a:cs typeface="STIX Two Text" pitchFamily="2" charset="0"/>
                <a:sym typeface="+mn-ea"/>
              </a:rPr>
              <a:t>clean</a:t>
            </a:r>
            <a:r>
              <a:rPr lang="pt-PT" sz="1600" dirty="0">
                <a:cs typeface="STIX Two Text" pitchFamily="2" charset="0"/>
                <a:sym typeface="+mn-ea"/>
              </a:rPr>
              <a:t>, </a:t>
            </a:r>
            <a:r>
              <a:rPr lang="pt-PT" sz="1600" dirty="0" err="1">
                <a:cs typeface="STIX Two Text" pitchFamily="2" charset="0"/>
                <a:sym typeface="+mn-ea"/>
              </a:rPr>
              <a:t>transform</a:t>
            </a:r>
            <a:endParaRPr lang="pt-PT" sz="1600" dirty="0">
              <a:cs typeface="STIX Two Text" pitchFamily="2" charset="0"/>
              <a:sym typeface="+mn-ea"/>
            </a:endParaRPr>
          </a:p>
          <a:p>
            <a:pPr marL="285750" indent="-285750">
              <a:buFontTx/>
              <a:buChar char="-"/>
            </a:pP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Prepare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the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data for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downstream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analysis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and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insights</a:t>
            </a:r>
          </a:p>
          <a:p>
            <a:pPr marL="285750" indent="-285750">
              <a:buFontTx/>
              <a:buChar char="-"/>
            </a:pP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Simulate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loading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the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final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datasets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into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a target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storage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system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(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Azure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Delta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Lake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Document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Key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Decisions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made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during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processing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and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transformation</a:t>
            </a:r>
            <a:endParaRPr lang="pt-PT" sz="1600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Tx/>
              <a:buChar char="-"/>
            </a:pP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Propose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an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automation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strategy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with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a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suitable</a:t>
            </a:r>
            <a:r>
              <a:rPr lang="pt-PT" sz="1600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pt-PT" sz="1600" dirty="0" err="1">
                <a:latin typeface="Calibri" panose="020F0502020204030204" charset="0"/>
                <a:cs typeface="Calibri" panose="020F0502020204030204" charset="0"/>
                <a:sym typeface="+mn-ea"/>
              </a:rPr>
              <a:t>schedule</a:t>
            </a: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2750" y="2144936"/>
            <a:ext cx="3264143" cy="3264142"/>
          </a:xfrm>
        </p:spPr>
      </p:pic>
      <p:sp>
        <p:nvSpPr>
          <p:cNvPr id="17" name="椭圆 5"/>
          <p:cNvSpPr/>
          <p:nvPr/>
        </p:nvSpPr>
        <p:spPr>
          <a:xfrm>
            <a:off x="1277809" y="2489995"/>
            <a:ext cx="2574025" cy="2574025"/>
          </a:xfrm>
          <a:prstGeom prst="ellipse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8" name="组合 36"/>
          <p:cNvGrpSpPr/>
          <p:nvPr/>
        </p:nvGrpSpPr>
        <p:grpSpPr>
          <a:xfrm flipH="1">
            <a:off x="1722182" y="2979750"/>
            <a:ext cx="1685278" cy="1594515"/>
            <a:chOff x="1208473" y="2361080"/>
            <a:chExt cx="793461" cy="749771"/>
          </a:xfrm>
          <a:solidFill>
            <a:schemeClr val="bg1"/>
          </a:solidFill>
        </p:grpSpPr>
        <p:sp>
          <p:nvSpPr>
            <p:cNvPr id="19" name="Freeform 17"/>
            <p:cNvSpPr/>
            <p:nvPr/>
          </p:nvSpPr>
          <p:spPr>
            <a:xfrm>
              <a:off x="1276122" y="2361080"/>
              <a:ext cx="725812" cy="749771"/>
            </a:xfrm>
            <a:custGeom>
              <a:avLst/>
              <a:gdLst/>
              <a:ahLst/>
              <a:cxnLst>
                <a:cxn ang="0">
                  <a:pos x="745220751" y="418261265"/>
                </a:cxn>
                <a:cxn ang="0">
                  <a:pos x="733930342" y="406957543"/>
                </a:cxn>
                <a:cxn ang="0">
                  <a:pos x="700055755" y="361739291"/>
                </a:cxn>
                <a:cxn ang="0">
                  <a:pos x="564560767" y="271306149"/>
                </a:cxn>
                <a:cxn ang="0">
                  <a:pos x="553270358" y="260002427"/>
                </a:cxn>
                <a:cxn ang="0">
                  <a:pos x="1942088099" y="384350098"/>
                </a:cxn>
                <a:cxn ang="0">
                  <a:pos x="2088876855" y="1921747128"/>
                </a:cxn>
                <a:cxn ang="0">
                  <a:pos x="587144945" y="2147483646"/>
                </a:cxn>
                <a:cxn ang="0">
                  <a:pos x="67745814" y="1582615282"/>
                </a:cxn>
                <a:cxn ang="0">
                  <a:pos x="33874587" y="1040006345"/>
                </a:cxn>
                <a:cxn ang="0">
                  <a:pos x="169369574" y="1119135765"/>
                </a:cxn>
                <a:cxn ang="0">
                  <a:pos x="203240801" y="1153050294"/>
                </a:cxn>
                <a:cxn ang="0">
                  <a:pos x="248405797" y="1153050294"/>
                </a:cxn>
                <a:cxn ang="0">
                  <a:pos x="621016172" y="1978269102"/>
                </a:cxn>
                <a:cxn ang="0">
                  <a:pos x="1309781518" y="2147483646"/>
                </a:cxn>
                <a:cxn ang="0">
                  <a:pos x="2066292677" y="994788094"/>
                </a:cxn>
                <a:cxn ang="0">
                  <a:pos x="1874342285" y="633045440"/>
                </a:cxn>
                <a:cxn ang="0">
                  <a:pos x="1535606497" y="384350098"/>
                </a:cxn>
                <a:cxn ang="0">
                  <a:pos x="1140411944" y="305217317"/>
                </a:cxn>
                <a:cxn ang="0">
                  <a:pos x="745220751" y="418261265"/>
                </a:cxn>
              </a:cxnLst>
              <a:rect l="0" t="0" r="0" b="0"/>
              <a:pathLst>
                <a:path w="216" h="223">
                  <a:moveTo>
                    <a:pt x="66" y="37"/>
                  </a:moveTo>
                  <a:cubicBezTo>
                    <a:pt x="65" y="36"/>
                    <a:pt x="65" y="36"/>
                    <a:pt x="65" y="36"/>
                  </a:cubicBezTo>
                  <a:cubicBezTo>
                    <a:pt x="66" y="34"/>
                    <a:pt x="64" y="33"/>
                    <a:pt x="62" y="32"/>
                  </a:cubicBezTo>
                  <a:cubicBezTo>
                    <a:pt x="58" y="30"/>
                    <a:pt x="54" y="27"/>
                    <a:pt x="50" y="24"/>
                  </a:cubicBezTo>
                  <a:cubicBezTo>
                    <a:pt x="50" y="24"/>
                    <a:pt x="50" y="23"/>
                    <a:pt x="49" y="23"/>
                  </a:cubicBezTo>
                  <a:cubicBezTo>
                    <a:pt x="83" y="1"/>
                    <a:pt x="135" y="0"/>
                    <a:pt x="172" y="34"/>
                  </a:cubicBezTo>
                  <a:cubicBezTo>
                    <a:pt x="211" y="70"/>
                    <a:pt x="216" y="129"/>
                    <a:pt x="185" y="170"/>
                  </a:cubicBezTo>
                  <a:cubicBezTo>
                    <a:pt x="154" y="212"/>
                    <a:pt x="97" y="223"/>
                    <a:pt x="52" y="197"/>
                  </a:cubicBezTo>
                  <a:cubicBezTo>
                    <a:pt x="29" y="183"/>
                    <a:pt x="14" y="164"/>
                    <a:pt x="6" y="140"/>
                  </a:cubicBezTo>
                  <a:cubicBezTo>
                    <a:pt x="2" y="126"/>
                    <a:pt x="0" y="100"/>
                    <a:pt x="3" y="92"/>
                  </a:cubicBezTo>
                  <a:cubicBezTo>
                    <a:pt x="7" y="94"/>
                    <a:pt x="11" y="97"/>
                    <a:pt x="15" y="99"/>
                  </a:cubicBezTo>
                  <a:cubicBezTo>
                    <a:pt x="16" y="100"/>
                    <a:pt x="17" y="101"/>
                    <a:pt x="18" y="102"/>
                  </a:cubicBezTo>
                  <a:cubicBezTo>
                    <a:pt x="19" y="102"/>
                    <a:pt x="21" y="102"/>
                    <a:pt x="22" y="102"/>
                  </a:cubicBezTo>
                  <a:cubicBezTo>
                    <a:pt x="20" y="132"/>
                    <a:pt x="31" y="156"/>
                    <a:pt x="55" y="175"/>
                  </a:cubicBezTo>
                  <a:cubicBezTo>
                    <a:pt x="73" y="188"/>
                    <a:pt x="94" y="193"/>
                    <a:pt x="116" y="190"/>
                  </a:cubicBezTo>
                  <a:cubicBezTo>
                    <a:pt x="164" y="182"/>
                    <a:pt x="195" y="135"/>
                    <a:pt x="183" y="88"/>
                  </a:cubicBezTo>
                  <a:cubicBezTo>
                    <a:pt x="179" y="76"/>
                    <a:pt x="174" y="65"/>
                    <a:pt x="166" y="56"/>
                  </a:cubicBezTo>
                  <a:cubicBezTo>
                    <a:pt x="158" y="47"/>
                    <a:pt x="148" y="39"/>
                    <a:pt x="136" y="34"/>
                  </a:cubicBezTo>
                  <a:cubicBezTo>
                    <a:pt x="125" y="29"/>
                    <a:pt x="113" y="27"/>
                    <a:pt x="101" y="27"/>
                  </a:cubicBezTo>
                  <a:cubicBezTo>
                    <a:pt x="88" y="28"/>
                    <a:pt x="77" y="31"/>
                    <a:pt x="66" y="37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 18"/>
            <p:cNvSpPr/>
            <p:nvPr/>
          </p:nvSpPr>
          <p:spPr>
            <a:xfrm>
              <a:off x="1208473" y="2404770"/>
              <a:ext cx="477768" cy="383342"/>
            </a:xfrm>
            <a:custGeom>
              <a:avLst/>
              <a:gdLst/>
              <a:ahLst/>
              <a:cxnLst>
                <a:cxn ang="0">
                  <a:pos x="1392394274" y="1289044640"/>
                </a:cxn>
                <a:cxn ang="0">
                  <a:pos x="1290511930" y="1255122236"/>
                </a:cxn>
                <a:cxn ang="0">
                  <a:pos x="973543143" y="1040282583"/>
                </a:cxn>
                <a:cxn ang="0">
                  <a:pos x="679217868" y="848056746"/>
                </a:cxn>
                <a:cxn ang="0">
                  <a:pos x="645255965" y="836748157"/>
                </a:cxn>
                <a:cxn ang="0">
                  <a:pos x="475453180" y="881979150"/>
                </a:cxn>
                <a:cxn ang="0">
                  <a:pos x="452813033" y="881979150"/>
                </a:cxn>
                <a:cxn ang="0">
                  <a:pos x="45280294" y="599291327"/>
                </a:cxn>
                <a:cxn ang="0">
                  <a:pos x="0" y="520141292"/>
                </a:cxn>
                <a:cxn ang="0">
                  <a:pos x="79242197" y="452296483"/>
                </a:cxn>
                <a:cxn ang="0">
                  <a:pos x="294328640" y="418374079"/>
                </a:cxn>
                <a:cxn ang="0">
                  <a:pos x="350927325" y="316606866"/>
                </a:cxn>
                <a:cxn ang="0">
                  <a:pos x="316968787" y="90458624"/>
                </a:cxn>
                <a:cxn ang="0">
                  <a:pos x="350927325" y="11308589"/>
                </a:cxn>
                <a:cxn ang="0">
                  <a:pos x="441491278" y="11308589"/>
                </a:cxn>
                <a:cxn ang="0">
                  <a:pos x="588653915" y="124381028"/>
                </a:cxn>
                <a:cxn ang="0">
                  <a:pos x="849020653" y="293993050"/>
                </a:cxn>
                <a:cxn ang="0">
                  <a:pos x="860342408" y="316606866"/>
                </a:cxn>
                <a:cxn ang="0">
                  <a:pos x="882982555" y="508832703"/>
                </a:cxn>
                <a:cxn ang="0">
                  <a:pos x="894304311" y="520141292"/>
                </a:cxn>
                <a:cxn ang="0">
                  <a:pos x="1381075883" y="848056746"/>
                </a:cxn>
                <a:cxn ang="0">
                  <a:pos x="1516916765" y="938515370"/>
                </a:cxn>
                <a:cxn ang="0">
                  <a:pos x="1584840570" y="1142049796"/>
                </a:cxn>
                <a:cxn ang="0">
                  <a:pos x="1426356177" y="1289044640"/>
                </a:cxn>
                <a:cxn ang="0">
                  <a:pos x="1392394274" y="1289044640"/>
                </a:cxn>
              </a:cxnLst>
              <a:rect l="0" t="0" r="0" b="0"/>
              <a:pathLst>
                <a:path w="142" h="114">
                  <a:moveTo>
                    <a:pt x="123" y="114"/>
                  </a:moveTo>
                  <a:cubicBezTo>
                    <a:pt x="120" y="114"/>
                    <a:pt x="117" y="113"/>
                    <a:pt x="114" y="111"/>
                  </a:cubicBezTo>
                  <a:cubicBezTo>
                    <a:pt x="105" y="105"/>
                    <a:pt x="95" y="98"/>
                    <a:pt x="86" y="92"/>
                  </a:cubicBezTo>
                  <a:cubicBezTo>
                    <a:pt x="77" y="86"/>
                    <a:pt x="69" y="81"/>
                    <a:pt x="60" y="75"/>
                  </a:cubicBezTo>
                  <a:cubicBezTo>
                    <a:pt x="59" y="74"/>
                    <a:pt x="58" y="74"/>
                    <a:pt x="57" y="74"/>
                  </a:cubicBezTo>
                  <a:cubicBezTo>
                    <a:pt x="52" y="76"/>
                    <a:pt x="47" y="77"/>
                    <a:pt x="42" y="78"/>
                  </a:cubicBezTo>
                  <a:cubicBezTo>
                    <a:pt x="41" y="78"/>
                    <a:pt x="40" y="78"/>
                    <a:pt x="40" y="78"/>
                  </a:cubicBezTo>
                  <a:cubicBezTo>
                    <a:pt x="28" y="70"/>
                    <a:pt x="16" y="62"/>
                    <a:pt x="4" y="53"/>
                  </a:cubicBezTo>
                  <a:cubicBezTo>
                    <a:pt x="1" y="51"/>
                    <a:pt x="0" y="49"/>
                    <a:pt x="0" y="46"/>
                  </a:cubicBezTo>
                  <a:cubicBezTo>
                    <a:pt x="1" y="43"/>
                    <a:pt x="3" y="41"/>
                    <a:pt x="7" y="40"/>
                  </a:cubicBezTo>
                  <a:cubicBezTo>
                    <a:pt x="13" y="39"/>
                    <a:pt x="19" y="38"/>
                    <a:pt x="26" y="37"/>
                  </a:cubicBezTo>
                  <a:cubicBezTo>
                    <a:pt x="30" y="36"/>
                    <a:pt x="32" y="32"/>
                    <a:pt x="31" y="28"/>
                  </a:cubicBezTo>
                  <a:cubicBezTo>
                    <a:pt x="30" y="21"/>
                    <a:pt x="29" y="15"/>
                    <a:pt x="28" y="8"/>
                  </a:cubicBezTo>
                  <a:cubicBezTo>
                    <a:pt x="27" y="5"/>
                    <a:pt x="28" y="3"/>
                    <a:pt x="31" y="1"/>
                  </a:cubicBezTo>
                  <a:cubicBezTo>
                    <a:pt x="33" y="0"/>
                    <a:pt x="36" y="0"/>
                    <a:pt x="39" y="1"/>
                  </a:cubicBezTo>
                  <a:cubicBezTo>
                    <a:pt x="43" y="4"/>
                    <a:pt x="48" y="7"/>
                    <a:pt x="52" y="11"/>
                  </a:cubicBezTo>
                  <a:cubicBezTo>
                    <a:pt x="60" y="16"/>
                    <a:pt x="67" y="21"/>
                    <a:pt x="75" y="26"/>
                  </a:cubicBezTo>
                  <a:cubicBezTo>
                    <a:pt x="75" y="26"/>
                    <a:pt x="76" y="27"/>
                    <a:pt x="76" y="28"/>
                  </a:cubicBezTo>
                  <a:cubicBezTo>
                    <a:pt x="77" y="34"/>
                    <a:pt x="77" y="39"/>
                    <a:pt x="78" y="45"/>
                  </a:cubicBezTo>
                  <a:cubicBezTo>
                    <a:pt x="78" y="45"/>
                    <a:pt x="79" y="46"/>
                    <a:pt x="79" y="46"/>
                  </a:cubicBezTo>
                  <a:cubicBezTo>
                    <a:pt x="94" y="56"/>
                    <a:pt x="108" y="65"/>
                    <a:pt x="122" y="75"/>
                  </a:cubicBezTo>
                  <a:cubicBezTo>
                    <a:pt x="126" y="78"/>
                    <a:pt x="130" y="80"/>
                    <a:pt x="134" y="83"/>
                  </a:cubicBezTo>
                  <a:cubicBezTo>
                    <a:pt x="139" y="87"/>
                    <a:pt x="142" y="94"/>
                    <a:pt x="140" y="101"/>
                  </a:cubicBezTo>
                  <a:cubicBezTo>
                    <a:pt x="138" y="107"/>
                    <a:pt x="132" y="113"/>
                    <a:pt x="126" y="114"/>
                  </a:cubicBezTo>
                  <a:cubicBezTo>
                    <a:pt x="125" y="114"/>
                    <a:pt x="124" y="114"/>
                    <a:pt x="123" y="114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 19"/>
            <p:cNvSpPr/>
            <p:nvPr/>
          </p:nvSpPr>
          <p:spPr>
            <a:xfrm>
              <a:off x="1424103" y="2518927"/>
              <a:ext cx="410119" cy="424213"/>
            </a:xfrm>
            <a:custGeom>
              <a:avLst/>
              <a:gdLst/>
              <a:ahLst/>
              <a:cxnLst>
                <a:cxn ang="0">
                  <a:pos x="22600246" y="646103333"/>
                </a:cxn>
                <a:cxn ang="0">
                  <a:pos x="33902050" y="657439247"/>
                </a:cxn>
                <a:cxn ang="0">
                  <a:pos x="248612793" y="793460116"/>
                </a:cxn>
                <a:cxn ang="0">
                  <a:pos x="259914597" y="816128577"/>
                </a:cxn>
                <a:cxn ang="0">
                  <a:pos x="565029687" y="1110842142"/>
                </a:cxn>
                <a:cxn ang="0">
                  <a:pos x="983149369" y="997493101"/>
                </a:cxn>
                <a:cxn ang="0">
                  <a:pos x="1096153961" y="657439247"/>
                </a:cxn>
                <a:cxn ang="0">
                  <a:pos x="858842972" y="328717940"/>
                </a:cxn>
                <a:cxn ang="0">
                  <a:pos x="644132229" y="283377651"/>
                </a:cxn>
                <a:cxn ang="0">
                  <a:pos x="632830425" y="283377651"/>
                </a:cxn>
                <a:cxn ang="0">
                  <a:pos x="553727883" y="260709189"/>
                </a:cxn>
                <a:cxn ang="0">
                  <a:pos x="372919190" y="136020868"/>
                </a:cxn>
                <a:cxn ang="0">
                  <a:pos x="361617386" y="124684954"/>
                </a:cxn>
                <a:cxn ang="0">
                  <a:pos x="1152656258" y="260709189"/>
                </a:cxn>
                <a:cxn ang="0">
                  <a:pos x="1197860112" y="1088173680"/>
                </a:cxn>
                <a:cxn ang="0">
                  <a:pos x="395519436" y="1292206666"/>
                </a:cxn>
                <a:cxn ang="0">
                  <a:pos x="22600246" y="646103333"/>
                </a:cxn>
              </a:cxnLst>
              <a:rect l="0" t="0" r="0" b="0"/>
              <a:pathLst>
                <a:path w="122" h="126">
                  <a:moveTo>
                    <a:pt x="2" y="57"/>
                  </a:moveTo>
                  <a:cubicBezTo>
                    <a:pt x="3" y="57"/>
                    <a:pt x="3" y="57"/>
                    <a:pt x="3" y="58"/>
                  </a:cubicBezTo>
                  <a:cubicBezTo>
                    <a:pt x="9" y="62"/>
                    <a:pt x="16" y="66"/>
                    <a:pt x="22" y="70"/>
                  </a:cubicBezTo>
                  <a:cubicBezTo>
                    <a:pt x="23" y="71"/>
                    <a:pt x="23" y="71"/>
                    <a:pt x="23" y="72"/>
                  </a:cubicBezTo>
                  <a:cubicBezTo>
                    <a:pt x="27" y="85"/>
                    <a:pt x="36" y="95"/>
                    <a:pt x="50" y="98"/>
                  </a:cubicBezTo>
                  <a:cubicBezTo>
                    <a:pt x="64" y="102"/>
                    <a:pt x="77" y="98"/>
                    <a:pt x="87" y="88"/>
                  </a:cubicBezTo>
                  <a:cubicBezTo>
                    <a:pt x="95" y="79"/>
                    <a:pt x="98" y="69"/>
                    <a:pt x="97" y="58"/>
                  </a:cubicBezTo>
                  <a:cubicBezTo>
                    <a:pt x="95" y="45"/>
                    <a:pt x="88" y="35"/>
                    <a:pt x="76" y="29"/>
                  </a:cubicBezTo>
                  <a:cubicBezTo>
                    <a:pt x="70" y="25"/>
                    <a:pt x="64" y="24"/>
                    <a:pt x="57" y="25"/>
                  </a:cubicBezTo>
                  <a:cubicBezTo>
                    <a:pt x="57" y="25"/>
                    <a:pt x="56" y="25"/>
                    <a:pt x="56" y="25"/>
                  </a:cubicBezTo>
                  <a:cubicBezTo>
                    <a:pt x="54" y="26"/>
                    <a:pt x="51" y="25"/>
                    <a:pt x="49" y="23"/>
                  </a:cubicBezTo>
                  <a:cubicBezTo>
                    <a:pt x="44" y="19"/>
                    <a:pt x="39" y="16"/>
                    <a:pt x="33" y="12"/>
                  </a:cubicBezTo>
                  <a:cubicBezTo>
                    <a:pt x="33" y="12"/>
                    <a:pt x="33" y="12"/>
                    <a:pt x="32" y="11"/>
                  </a:cubicBezTo>
                  <a:cubicBezTo>
                    <a:pt x="53" y="0"/>
                    <a:pt x="82" y="2"/>
                    <a:pt x="102" y="23"/>
                  </a:cubicBezTo>
                  <a:cubicBezTo>
                    <a:pt x="120" y="43"/>
                    <a:pt x="122" y="73"/>
                    <a:pt x="106" y="96"/>
                  </a:cubicBezTo>
                  <a:cubicBezTo>
                    <a:pt x="90" y="118"/>
                    <a:pt x="61" y="126"/>
                    <a:pt x="35" y="114"/>
                  </a:cubicBezTo>
                  <a:cubicBezTo>
                    <a:pt x="10" y="102"/>
                    <a:pt x="0" y="77"/>
                    <a:pt x="2" y="57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4" name="Title 5">
            <a:extLst>
              <a:ext uri="{FF2B5EF4-FFF2-40B4-BE49-F238E27FC236}">
                <a16:creationId xmlns:a16="http://schemas.microsoft.com/office/drawing/2014/main" id="{55C49D2A-F19A-5F22-00C3-D8E41ABD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952" y="575929"/>
            <a:ext cx="7412264" cy="1077005"/>
          </a:xfrm>
        </p:spPr>
        <p:txBody>
          <a:bodyPr anchor="ctr"/>
          <a:lstStyle/>
          <a:p>
            <a:pPr algn="ctr"/>
            <a:r>
              <a:rPr lang="en-ID" sz="3500" b="1" dirty="0"/>
              <a:t>Objectives</a:t>
            </a:r>
          </a:p>
        </p:txBody>
      </p:sp>
      <p:pic>
        <p:nvPicPr>
          <p:cNvPr id="40" name="Picture 4">
            <a:extLst>
              <a:ext uri="{FF2B5EF4-FFF2-40B4-BE49-F238E27FC236}">
                <a16:creationId xmlns:a16="http://schemas.microsoft.com/office/drawing/2014/main" id="{C2AA36EF-6D61-14D1-23EE-F97C765B5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6C9F-7D6A-A331-775C-C31DF9AD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77F9659C-CF4C-A256-90F6-E644A15055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D98CF7BB-6BC5-5747-8AE0-FB2AE2150880}"/>
              </a:ext>
            </a:extLst>
          </p:cNvPr>
          <p:cNvSpPr/>
          <p:nvPr/>
        </p:nvSpPr>
        <p:spPr>
          <a:xfrm>
            <a:off x="877708" y="1358146"/>
            <a:ext cx="10314940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4B02B-2F8D-13D9-C7F0-734DCCAC0271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D543DAF-9137-B0FE-9D23-4926DC30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107" y="679773"/>
            <a:ext cx="12192000" cy="705708"/>
          </a:xfrm>
        </p:spPr>
        <p:txBody>
          <a:bodyPr/>
          <a:lstStyle/>
          <a:p>
            <a:r>
              <a:rPr lang="en-ID" sz="3500" b="1" dirty="0"/>
              <a:t>Architecture &amp; Data Flow</a:t>
            </a:r>
            <a:endParaRPr lang="en-ID" sz="3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DA2317FE-D96F-FABD-786B-81BF67EDE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5</a:t>
            </a:fld>
            <a:endParaRPr lang="en-ID" dirty="0"/>
          </a:p>
        </p:txBody>
      </p:sp>
      <p:grpSp>
        <p:nvGrpSpPr>
          <p:cNvPr id="35" name="Group 2">
            <a:extLst>
              <a:ext uri="{FF2B5EF4-FFF2-40B4-BE49-F238E27FC236}">
                <a16:creationId xmlns:a16="http://schemas.microsoft.com/office/drawing/2014/main" id="{AFB304BC-250E-E9C4-953B-C2B983DF6AD0}"/>
              </a:ext>
            </a:extLst>
          </p:cNvPr>
          <p:cNvGrpSpPr/>
          <p:nvPr/>
        </p:nvGrpSpPr>
        <p:grpSpPr>
          <a:xfrm>
            <a:off x="2011192" y="1746201"/>
            <a:ext cx="1892600" cy="1193187"/>
            <a:chOff x="838200" y="1838083"/>
            <a:chExt cx="2257425" cy="1590917"/>
          </a:xfrm>
          <a:solidFill>
            <a:schemeClr val="bg1">
              <a:lumMod val="85000"/>
            </a:schemeClr>
          </a:solidFill>
        </p:grpSpPr>
        <p:sp>
          <p:nvSpPr>
            <p:cNvPr id="36" name="Rectangle: Rounded Corners 3">
              <a:extLst>
                <a:ext uri="{FF2B5EF4-FFF2-40B4-BE49-F238E27FC236}">
                  <a16:creationId xmlns:a16="http://schemas.microsoft.com/office/drawing/2014/main" id="{38DF5194-D889-993C-FB49-6F7E5E25A54F}"/>
                </a:ext>
              </a:extLst>
            </p:cNvPr>
            <p:cNvSpPr/>
            <p:nvPr/>
          </p:nvSpPr>
          <p:spPr>
            <a:xfrm>
              <a:off x="838200" y="2369310"/>
              <a:ext cx="2257424" cy="5664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Freeform: Shape 4">
              <a:extLst>
                <a:ext uri="{FF2B5EF4-FFF2-40B4-BE49-F238E27FC236}">
                  <a16:creationId xmlns:a16="http://schemas.microsoft.com/office/drawing/2014/main" id="{6A8C6B8A-B819-AC71-2F9D-9AC7B111E6A9}"/>
                </a:ext>
              </a:extLst>
            </p:cNvPr>
            <p:cNvSpPr/>
            <p:nvPr/>
          </p:nvSpPr>
          <p:spPr>
            <a:xfrm>
              <a:off x="2035935" y="2369310"/>
              <a:ext cx="1059690" cy="1059690"/>
            </a:xfrm>
            <a:custGeom>
              <a:avLst/>
              <a:gdLst>
                <a:gd name="connsiteX0" fmla="*/ 158796 w 2028451"/>
                <a:gd name="connsiteY0" fmla="*/ 1869655 h 2028452"/>
                <a:gd name="connsiteX1" fmla="*/ 158796 w 2028451"/>
                <a:gd name="connsiteY1" fmla="*/ 1869655 h 2028452"/>
                <a:gd name="connsiteX2" fmla="*/ 158797 w 2028451"/>
                <a:gd name="connsiteY2" fmla="*/ 1869656 h 2028452"/>
                <a:gd name="connsiteX3" fmla="*/ 1486285 w 2028451"/>
                <a:gd name="connsiteY3" fmla="*/ 0 h 2028452"/>
                <a:gd name="connsiteX4" fmla="*/ 1869655 w 2028451"/>
                <a:gd name="connsiteY4" fmla="*/ 158797 h 2028452"/>
                <a:gd name="connsiteX5" fmla="*/ 1869654 w 2028451"/>
                <a:gd name="connsiteY5" fmla="*/ 158798 h 2028452"/>
                <a:gd name="connsiteX6" fmla="*/ 1869654 w 2028451"/>
                <a:gd name="connsiteY6" fmla="*/ 925538 h 2028452"/>
                <a:gd name="connsiteX7" fmla="*/ 925536 w 2028451"/>
                <a:gd name="connsiteY7" fmla="*/ 1869655 h 2028452"/>
                <a:gd name="connsiteX8" fmla="*/ 243847 w 2028451"/>
                <a:gd name="connsiteY8" fmla="*/ 1939129 h 2028452"/>
                <a:gd name="connsiteX9" fmla="*/ 158796 w 2028451"/>
                <a:gd name="connsiteY9" fmla="*/ 1869655 h 2028452"/>
                <a:gd name="connsiteX10" fmla="*/ 89323 w 2028451"/>
                <a:gd name="connsiteY10" fmla="*/ 1784605 h 2028452"/>
                <a:gd name="connsiteX11" fmla="*/ 158797 w 2028451"/>
                <a:gd name="connsiteY11" fmla="*/ 1102916 h 2028452"/>
                <a:gd name="connsiteX12" fmla="*/ 1102915 w 2028451"/>
                <a:gd name="connsiteY12" fmla="*/ 158797 h 2028452"/>
                <a:gd name="connsiteX13" fmla="*/ 1486285 w 2028451"/>
                <a:gd name="connsiteY13" fmla="*/ 0 h 202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8451" h="2028452">
                  <a:moveTo>
                    <a:pt x="158796" y="1869655"/>
                  </a:moveTo>
                  <a:lnTo>
                    <a:pt x="158796" y="1869655"/>
                  </a:lnTo>
                  <a:lnTo>
                    <a:pt x="158797" y="1869656"/>
                  </a:lnTo>
                  <a:close/>
                  <a:moveTo>
                    <a:pt x="1486285" y="0"/>
                  </a:moveTo>
                  <a:cubicBezTo>
                    <a:pt x="1625038" y="0"/>
                    <a:pt x="1763790" y="52933"/>
                    <a:pt x="1869655" y="158797"/>
                  </a:cubicBezTo>
                  <a:lnTo>
                    <a:pt x="1869654" y="158798"/>
                  </a:lnTo>
                  <a:cubicBezTo>
                    <a:pt x="2081384" y="370528"/>
                    <a:pt x="2081384" y="713808"/>
                    <a:pt x="1869654" y="925538"/>
                  </a:cubicBezTo>
                  <a:lnTo>
                    <a:pt x="925536" y="1869655"/>
                  </a:lnTo>
                  <a:cubicBezTo>
                    <a:pt x="740272" y="2054919"/>
                    <a:pt x="454291" y="2078076"/>
                    <a:pt x="243847" y="1939129"/>
                  </a:cubicBezTo>
                  <a:lnTo>
                    <a:pt x="158796" y="1869655"/>
                  </a:lnTo>
                  <a:lnTo>
                    <a:pt x="89323" y="1784605"/>
                  </a:lnTo>
                  <a:cubicBezTo>
                    <a:pt x="-49624" y="1574162"/>
                    <a:pt x="-26466" y="1288180"/>
                    <a:pt x="158797" y="1102916"/>
                  </a:cubicBezTo>
                  <a:lnTo>
                    <a:pt x="1102915" y="158797"/>
                  </a:lnTo>
                  <a:cubicBezTo>
                    <a:pt x="1208780" y="52933"/>
                    <a:pt x="1347533" y="0"/>
                    <a:pt x="148628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Freeform: Shape 5">
              <a:extLst>
                <a:ext uri="{FF2B5EF4-FFF2-40B4-BE49-F238E27FC236}">
                  <a16:creationId xmlns:a16="http://schemas.microsoft.com/office/drawing/2014/main" id="{EF043453-8A7B-A0D2-9A2D-242BF524B7D4}"/>
                </a:ext>
              </a:extLst>
            </p:cNvPr>
            <p:cNvSpPr/>
            <p:nvPr/>
          </p:nvSpPr>
          <p:spPr>
            <a:xfrm>
              <a:off x="1991692" y="1838083"/>
              <a:ext cx="1059690" cy="1059689"/>
            </a:xfrm>
            <a:custGeom>
              <a:avLst/>
              <a:gdLst>
                <a:gd name="connsiteX0" fmla="*/ 542167 w 2028452"/>
                <a:gd name="connsiteY0" fmla="*/ 0 h 2028451"/>
                <a:gd name="connsiteX1" fmla="*/ 925537 w 2028452"/>
                <a:gd name="connsiteY1" fmla="*/ 158797 h 2028451"/>
                <a:gd name="connsiteX2" fmla="*/ 1869655 w 2028452"/>
                <a:gd name="connsiteY2" fmla="*/ 1102916 h 2028451"/>
                <a:gd name="connsiteX3" fmla="*/ 1869655 w 2028452"/>
                <a:gd name="connsiteY3" fmla="*/ 1869655 h 2028451"/>
                <a:gd name="connsiteX4" fmla="*/ 1869654 w 2028452"/>
                <a:gd name="connsiteY4" fmla="*/ 1869655 h 2028451"/>
                <a:gd name="connsiteX5" fmla="*/ 1102915 w 2028452"/>
                <a:gd name="connsiteY5" fmla="*/ 1869655 h 2028451"/>
                <a:gd name="connsiteX6" fmla="*/ 158798 w 2028452"/>
                <a:gd name="connsiteY6" fmla="*/ 925536 h 2028451"/>
                <a:gd name="connsiteX7" fmla="*/ 158798 w 2028452"/>
                <a:gd name="connsiteY7" fmla="*/ 158796 h 2028451"/>
                <a:gd name="connsiteX8" fmla="*/ 158797 w 2028452"/>
                <a:gd name="connsiteY8" fmla="*/ 158797 h 2028451"/>
                <a:gd name="connsiteX9" fmla="*/ 542167 w 2028452"/>
                <a:gd name="connsiteY9" fmla="*/ 0 h 202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452" h="2028451">
                  <a:moveTo>
                    <a:pt x="542167" y="0"/>
                  </a:moveTo>
                  <a:cubicBezTo>
                    <a:pt x="680920" y="0"/>
                    <a:pt x="819672" y="52932"/>
                    <a:pt x="925537" y="158797"/>
                  </a:cubicBezTo>
                  <a:lnTo>
                    <a:pt x="1869655" y="1102916"/>
                  </a:lnTo>
                  <a:cubicBezTo>
                    <a:pt x="2081385" y="1314645"/>
                    <a:pt x="2081385" y="1657926"/>
                    <a:pt x="1869655" y="1869655"/>
                  </a:cubicBezTo>
                  <a:lnTo>
                    <a:pt x="1869654" y="1869655"/>
                  </a:lnTo>
                  <a:cubicBezTo>
                    <a:pt x="1657925" y="2081384"/>
                    <a:pt x="1314644" y="2081384"/>
                    <a:pt x="1102915" y="1869655"/>
                  </a:cubicBezTo>
                  <a:lnTo>
                    <a:pt x="158798" y="925536"/>
                  </a:lnTo>
                  <a:cubicBezTo>
                    <a:pt x="-52932" y="713807"/>
                    <a:pt x="-52932" y="370526"/>
                    <a:pt x="158798" y="158796"/>
                  </a:cubicBezTo>
                  <a:lnTo>
                    <a:pt x="158797" y="158797"/>
                  </a:lnTo>
                  <a:cubicBezTo>
                    <a:pt x="264662" y="52932"/>
                    <a:pt x="403415" y="0"/>
                    <a:pt x="54216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39" name="Group 6">
            <a:extLst>
              <a:ext uri="{FF2B5EF4-FFF2-40B4-BE49-F238E27FC236}">
                <a16:creationId xmlns:a16="http://schemas.microsoft.com/office/drawing/2014/main" id="{73DFB457-D05E-6C38-0571-14C8312ECF4A}"/>
              </a:ext>
            </a:extLst>
          </p:cNvPr>
          <p:cNvGrpSpPr/>
          <p:nvPr/>
        </p:nvGrpSpPr>
        <p:grpSpPr>
          <a:xfrm>
            <a:off x="4075737" y="1773669"/>
            <a:ext cx="1892600" cy="1165721"/>
            <a:chOff x="3590926" y="1874706"/>
            <a:chExt cx="2257425" cy="1554294"/>
          </a:xfrm>
          <a:solidFill>
            <a:schemeClr val="bg2">
              <a:lumMod val="90000"/>
            </a:schemeClr>
          </a:solidFill>
        </p:grpSpPr>
        <p:sp>
          <p:nvSpPr>
            <p:cNvPr id="40" name="Rectangle: Rounded Corners 7">
              <a:extLst>
                <a:ext uri="{FF2B5EF4-FFF2-40B4-BE49-F238E27FC236}">
                  <a16:creationId xmlns:a16="http://schemas.microsoft.com/office/drawing/2014/main" id="{950360CB-A597-2F15-20A2-831099356410}"/>
                </a:ext>
              </a:extLst>
            </p:cNvPr>
            <p:cNvSpPr/>
            <p:nvPr/>
          </p:nvSpPr>
          <p:spPr>
            <a:xfrm>
              <a:off x="3590926" y="2369310"/>
              <a:ext cx="2257424" cy="5664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1" name="Freeform: Shape 8">
              <a:extLst>
                <a:ext uri="{FF2B5EF4-FFF2-40B4-BE49-F238E27FC236}">
                  <a16:creationId xmlns:a16="http://schemas.microsoft.com/office/drawing/2014/main" id="{B5063124-7A38-4F92-8D5C-D4124D999411}"/>
                </a:ext>
              </a:extLst>
            </p:cNvPr>
            <p:cNvSpPr/>
            <p:nvPr/>
          </p:nvSpPr>
          <p:spPr>
            <a:xfrm>
              <a:off x="4788661" y="2369310"/>
              <a:ext cx="1059690" cy="1059690"/>
            </a:xfrm>
            <a:custGeom>
              <a:avLst/>
              <a:gdLst>
                <a:gd name="connsiteX0" fmla="*/ 158796 w 2028451"/>
                <a:gd name="connsiteY0" fmla="*/ 1869655 h 2028452"/>
                <a:gd name="connsiteX1" fmla="*/ 158796 w 2028451"/>
                <a:gd name="connsiteY1" fmla="*/ 1869655 h 2028452"/>
                <a:gd name="connsiteX2" fmla="*/ 158797 w 2028451"/>
                <a:gd name="connsiteY2" fmla="*/ 1869656 h 2028452"/>
                <a:gd name="connsiteX3" fmla="*/ 1486285 w 2028451"/>
                <a:gd name="connsiteY3" fmla="*/ 0 h 2028452"/>
                <a:gd name="connsiteX4" fmla="*/ 1869655 w 2028451"/>
                <a:gd name="connsiteY4" fmla="*/ 158797 h 2028452"/>
                <a:gd name="connsiteX5" fmla="*/ 1869654 w 2028451"/>
                <a:gd name="connsiteY5" fmla="*/ 158798 h 2028452"/>
                <a:gd name="connsiteX6" fmla="*/ 1869654 w 2028451"/>
                <a:gd name="connsiteY6" fmla="*/ 925538 h 2028452"/>
                <a:gd name="connsiteX7" fmla="*/ 925536 w 2028451"/>
                <a:gd name="connsiteY7" fmla="*/ 1869655 h 2028452"/>
                <a:gd name="connsiteX8" fmla="*/ 243847 w 2028451"/>
                <a:gd name="connsiteY8" fmla="*/ 1939129 h 2028452"/>
                <a:gd name="connsiteX9" fmla="*/ 158796 w 2028451"/>
                <a:gd name="connsiteY9" fmla="*/ 1869655 h 2028452"/>
                <a:gd name="connsiteX10" fmla="*/ 89323 w 2028451"/>
                <a:gd name="connsiteY10" fmla="*/ 1784605 h 2028452"/>
                <a:gd name="connsiteX11" fmla="*/ 158797 w 2028451"/>
                <a:gd name="connsiteY11" fmla="*/ 1102916 h 2028452"/>
                <a:gd name="connsiteX12" fmla="*/ 1102915 w 2028451"/>
                <a:gd name="connsiteY12" fmla="*/ 158797 h 2028452"/>
                <a:gd name="connsiteX13" fmla="*/ 1486285 w 2028451"/>
                <a:gd name="connsiteY13" fmla="*/ 0 h 202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8451" h="2028452">
                  <a:moveTo>
                    <a:pt x="158796" y="1869655"/>
                  </a:moveTo>
                  <a:lnTo>
                    <a:pt x="158796" y="1869655"/>
                  </a:lnTo>
                  <a:lnTo>
                    <a:pt x="158797" y="1869656"/>
                  </a:lnTo>
                  <a:close/>
                  <a:moveTo>
                    <a:pt x="1486285" y="0"/>
                  </a:moveTo>
                  <a:cubicBezTo>
                    <a:pt x="1625038" y="0"/>
                    <a:pt x="1763790" y="52933"/>
                    <a:pt x="1869655" y="158797"/>
                  </a:cubicBezTo>
                  <a:lnTo>
                    <a:pt x="1869654" y="158798"/>
                  </a:lnTo>
                  <a:cubicBezTo>
                    <a:pt x="2081384" y="370528"/>
                    <a:pt x="2081384" y="713808"/>
                    <a:pt x="1869654" y="925538"/>
                  </a:cubicBezTo>
                  <a:lnTo>
                    <a:pt x="925536" y="1869655"/>
                  </a:lnTo>
                  <a:cubicBezTo>
                    <a:pt x="740272" y="2054919"/>
                    <a:pt x="454291" y="2078076"/>
                    <a:pt x="243847" y="1939129"/>
                  </a:cubicBezTo>
                  <a:lnTo>
                    <a:pt x="158796" y="1869655"/>
                  </a:lnTo>
                  <a:lnTo>
                    <a:pt x="89323" y="1784605"/>
                  </a:lnTo>
                  <a:cubicBezTo>
                    <a:pt x="-49624" y="1574162"/>
                    <a:pt x="-26466" y="1288180"/>
                    <a:pt x="158797" y="1102916"/>
                  </a:cubicBezTo>
                  <a:lnTo>
                    <a:pt x="1102915" y="158797"/>
                  </a:lnTo>
                  <a:cubicBezTo>
                    <a:pt x="1208780" y="52933"/>
                    <a:pt x="1347533" y="0"/>
                    <a:pt x="148628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Freeform: Shape 9">
              <a:extLst>
                <a:ext uri="{FF2B5EF4-FFF2-40B4-BE49-F238E27FC236}">
                  <a16:creationId xmlns:a16="http://schemas.microsoft.com/office/drawing/2014/main" id="{BB53C161-8FDA-8451-A609-C4BADFB0D689}"/>
                </a:ext>
              </a:extLst>
            </p:cNvPr>
            <p:cNvSpPr/>
            <p:nvPr/>
          </p:nvSpPr>
          <p:spPr>
            <a:xfrm>
              <a:off x="4788660" y="1874706"/>
              <a:ext cx="1059690" cy="1059689"/>
            </a:xfrm>
            <a:custGeom>
              <a:avLst/>
              <a:gdLst>
                <a:gd name="connsiteX0" fmla="*/ 542167 w 2028452"/>
                <a:gd name="connsiteY0" fmla="*/ 0 h 2028451"/>
                <a:gd name="connsiteX1" fmla="*/ 925537 w 2028452"/>
                <a:gd name="connsiteY1" fmla="*/ 158797 h 2028451"/>
                <a:gd name="connsiteX2" fmla="*/ 1869655 w 2028452"/>
                <a:gd name="connsiteY2" fmla="*/ 1102916 h 2028451"/>
                <a:gd name="connsiteX3" fmla="*/ 1869655 w 2028452"/>
                <a:gd name="connsiteY3" fmla="*/ 1869655 h 2028451"/>
                <a:gd name="connsiteX4" fmla="*/ 1869654 w 2028452"/>
                <a:gd name="connsiteY4" fmla="*/ 1869655 h 2028451"/>
                <a:gd name="connsiteX5" fmla="*/ 1102915 w 2028452"/>
                <a:gd name="connsiteY5" fmla="*/ 1869655 h 2028451"/>
                <a:gd name="connsiteX6" fmla="*/ 158798 w 2028452"/>
                <a:gd name="connsiteY6" fmla="*/ 925536 h 2028451"/>
                <a:gd name="connsiteX7" fmla="*/ 158798 w 2028452"/>
                <a:gd name="connsiteY7" fmla="*/ 158796 h 2028451"/>
                <a:gd name="connsiteX8" fmla="*/ 158797 w 2028452"/>
                <a:gd name="connsiteY8" fmla="*/ 158797 h 2028451"/>
                <a:gd name="connsiteX9" fmla="*/ 542167 w 2028452"/>
                <a:gd name="connsiteY9" fmla="*/ 0 h 202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452" h="2028451">
                  <a:moveTo>
                    <a:pt x="542167" y="0"/>
                  </a:moveTo>
                  <a:cubicBezTo>
                    <a:pt x="680920" y="0"/>
                    <a:pt x="819672" y="52932"/>
                    <a:pt x="925537" y="158797"/>
                  </a:cubicBezTo>
                  <a:lnTo>
                    <a:pt x="1869655" y="1102916"/>
                  </a:lnTo>
                  <a:cubicBezTo>
                    <a:pt x="2081385" y="1314645"/>
                    <a:pt x="2081385" y="1657926"/>
                    <a:pt x="1869655" y="1869655"/>
                  </a:cubicBezTo>
                  <a:lnTo>
                    <a:pt x="1869654" y="1869655"/>
                  </a:lnTo>
                  <a:cubicBezTo>
                    <a:pt x="1657925" y="2081384"/>
                    <a:pt x="1314644" y="2081384"/>
                    <a:pt x="1102915" y="1869655"/>
                  </a:cubicBezTo>
                  <a:lnTo>
                    <a:pt x="158798" y="925536"/>
                  </a:lnTo>
                  <a:cubicBezTo>
                    <a:pt x="-52932" y="713807"/>
                    <a:pt x="-52932" y="370526"/>
                    <a:pt x="158798" y="158796"/>
                  </a:cubicBezTo>
                  <a:lnTo>
                    <a:pt x="158797" y="158797"/>
                  </a:lnTo>
                  <a:cubicBezTo>
                    <a:pt x="264662" y="52932"/>
                    <a:pt x="403415" y="0"/>
                    <a:pt x="54216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43" name="Group 10">
            <a:extLst>
              <a:ext uri="{FF2B5EF4-FFF2-40B4-BE49-F238E27FC236}">
                <a16:creationId xmlns:a16="http://schemas.microsoft.com/office/drawing/2014/main" id="{28C81415-7361-BB31-4F81-E4055AE847D9}"/>
              </a:ext>
            </a:extLst>
          </p:cNvPr>
          <p:cNvGrpSpPr/>
          <p:nvPr/>
        </p:nvGrpSpPr>
        <p:grpSpPr>
          <a:xfrm>
            <a:off x="6113734" y="1780229"/>
            <a:ext cx="1892600" cy="1165721"/>
            <a:chOff x="6343652" y="1874706"/>
            <a:chExt cx="2257425" cy="1554294"/>
          </a:xfrm>
          <a:solidFill>
            <a:schemeClr val="bg1">
              <a:lumMod val="85000"/>
            </a:schemeClr>
          </a:solidFill>
        </p:grpSpPr>
        <p:sp>
          <p:nvSpPr>
            <p:cNvPr id="44" name="Rectangle: Rounded Corners 11">
              <a:extLst>
                <a:ext uri="{FF2B5EF4-FFF2-40B4-BE49-F238E27FC236}">
                  <a16:creationId xmlns:a16="http://schemas.microsoft.com/office/drawing/2014/main" id="{D5076F6A-54BD-58EB-0F8D-88553E4C71B8}"/>
                </a:ext>
              </a:extLst>
            </p:cNvPr>
            <p:cNvSpPr/>
            <p:nvPr/>
          </p:nvSpPr>
          <p:spPr>
            <a:xfrm>
              <a:off x="6343652" y="2369310"/>
              <a:ext cx="2257424" cy="5664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Freeform: Shape 12">
              <a:extLst>
                <a:ext uri="{FF2B5EF4-FFF2-40B4-BE49-F238E27FC236}">
                  <a16:creationId xmlns:a16="http://schemas.microsoft.com/office/drawing/2014/main" id="{84A1136E-BE2B-D8C2-5695-72CA398E7555}"/>
                </a:ext>
              </a:extLst>
            </p:cNvPr>
            <p:cNvSpPr/>
            <p:nvPr/>
          </p:nvSpPr>
          <p:spPr>
            <a:xfrm>
              <a:off x="7541387" y="2369310"/>
              <a:ext cx="1059690" cy="1059690"/>
            </a:xfrm>
            <a:custGeom>
              <a:avLst/>
              <a:gdLst>
                <a:gd name="connsiteX0" fmla="*/ 158796 w 2028451"/>
                <a:gd name="connsiteY0" fmla="*/ 1869655 h 2028452"/>
                <a:gd name="connsiteX1" fmla="*/ 158796 w 2028451"/>
                <a:gd name="connsiteY1" fmla="*/ 1869655 h 2028452"/>
                <a:gd name="connsiteX2" fmla="*/ 158797 w 2028451"/>
                <a:gd name="connsiteY2" fmla="*/ 1869656 h 2028452"/>
                <a:gd name="connsiteX3" fmla="*/ 1486285 w 2028451"/>
                <a:gd name="connsiteY3" fmla="*/ 0 h 2028452"/>
                <a:gd name="connsiteX4" fmla="*/ 1869655 w 2028451"/>
                <a:gd name="connsiteY4" fmla="*/ 158797 h 2028452"/>
                <a:gd name="connsiteX5" fmla="*/ 1869654 w 2028451"/>
                <a:gd name="connsiteY5" fmla="*/ 158798 h 2028452"/>
                <a:gd name="connsiteX6" fmla="*/ 1869654 w 2028451"/>
                <a:gd name="connsiteY6" fmla="*/ 925538 h 2028452"/>
                <a:gd name="connsiteX7" fmla="*/ 925536 w 2028451"/>
                <a:gd name="connsiteY7" fmla="*/ 1869655 h 2028452"/>
                <a:gd name="connsiteX8" fmla="*/ 243847 w 2028451"/>
                <a:gd name="connsiteY8" fmla="*/ 1939129 h 2028452"/>
                <a:gd name="connsiteX9" fmla="*/ 158796 w 2028451"/>
                <a:gd name="connsiteY9" fmla="*/ 1869655 h 2028452"/>
                <a:gd name="connsiteX10" fmla="*/ 89323 w 2028451"/>
                <a:gd name="connsiteY10" fmla="*/ 1784605 h 2028452"/>
                <a:gd name="connsiteX11" fmla="*/ 158797 w 2028451"/>
                <a:gd name="connsiteY11" fmla="*/ 1102916 h 2028452"/>
                <a:gd name="connsiteX12" fmla="*/ 1102915 w 2028451"/>
                <a:gd name="connsiteY12" fmla="*/ 158797 h 2028452"/>
                <a:gd name="connsiteX13" fmla="*/ 1486285 w 2028451"/>
                <a:gd name="connsiteY13" fmla="*/ 0 h 202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8451" h="2028452">
                  <a:moveTo>
                    <a:pt x="158796" y="1869655"/>
                  </a:moveTo>
                  <a:lnTo>
                    <a:pt x="158796" y="1869655"/>
                  </a:lnTo>
                  <a:lnTo>
                    <a:pt x="158797" y="1869656"/>
                  </a:lnTo>
                  <a:close/>
                  <a:moveTo>
                    <a:pt x="1486285" y="0"/>
                  </a:moveTo>
                  <a:cubicBezTo>
                    <a:pt x="1625038" y="0"/>
                    <a:pt x="1763790" y="52933"/>
                    <a:pt x="1869655" y="158797"/>
                  </a:cubicBezTo>
                  <a:lnTo>
                    <a:pt x="1869654" y="158798"/>
                  </a:lnTo>
                  <a:cubicBezTo>
                    <a:pt x="2081384" y="370528"/>
                    <a:pt x="2081384" y="713808"/>
                    <a:pt x="1869654" y="925538"/>
                  </a:cubicBezTo>
                  <a:lnTo>
                    <a:pt x="925536" y="1869655"/>
                  </a:lnTo>
                  <a:cubicBezTo>
                    <a:pt x="740272" y="2054919"/>
                    <a:pt x="454291" y="2078076"/>
                    <a:pt x="243847" y="1939129"/>
                  </a:cubicBezTo>
                  <a:lnTo>
                    <a:pt x="158796" y="1869655"/>
                  </a:lnTo>
                  <a:lnTo>
                    <a:pt x="89323" y="1784605"/>
                  </a:lnTo>
                  <a:cubicBezTo>
                    <a:pt x="-49624" y="1574162"/>
                    <a:pt x="-26466" y="1288180"/>
                    <a:pt x="158797" y="1102916"/>
                  </a:cubicBezTo>
                  <a:lnTo>
                    <a:pt x="1102915" y="158797"/>
                  </a:lnTo>
                  <a:cubicBezTo>
                    <a:pt x="1208780" y="52933"/>
                    <a:pt x="1347533" y="0"/>
                    <a:pt x="148628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Freeform: Shape 13">
              <a:extLst>
                <a:ext uri="{FF2B5EF4-FFF2-40B4-BE49-F238E27FC236}">
                  <a16:creationId xmlns:a16="http://schemas.microsoft.com/office/drawing/2014/main" id="{E594C4DB-D211-9862-61AB-D2F3986D526D}"/>
                </a:ext>
              </a:extLst>
            </p:cNvPr>
            <p:cNvSpPr/>
            <p:nvPr/>
          </p:nvSpPr>
          <p:spPr>
            <a:xfrm>
              <a:off x="7541386" y="1874706"/>
              <a:ext cx="1059690" cy="1059689"/>
            </a:xfrm>
            <a:custGeom>
              <a:avLst/>
              <a:gdLst>
                <a:gd name="connsiteX0" fmla="*/ 542167 w 2028452"/>
                <a:gd name="connsiteY0" fmla="*/ 0 h 2028451"/>
                <a:gd name="connsiteX1" fmla="*/ 925537 w 2028452"/>
                <a:gd name="connsiteY1" fmla="*/ 158797 h 2028451"/>
                <a:gd name="connsiteX2" fmla="*/ 1869655 w 2028452"/>
                <a:gd name="connsiteY2" fmla="*/ 1102916 h 2028451"/>
                <a:gd name="connsiteX3" fmla="*/ 1869655 w 2028452"/>
                <a:gd name="connsiteY3" fmla="*/ 1869655 h 2028451"/>
                <a:gd name="connsiteX4" fmla="*/ 1869654 w 2028452"/>
                <a:gd name="connsiteY4" fmla="*/ 1869655 h 2028451"/>
                <a:gd name="connsiteX5" fmla="*/ 1102915 w 2028452"/>
                <a:gd name="connsiteY5" fmla="*/ 1869655 h 2028451"/>
                <a:gd name="connsiteX6" fmla="*/ 158798 w 2028452"/>
                <a:gd name="connsiteY6" fmla="*/ 925536 h 2028451"/>
                <a:gd name="connsiteX7" fmla="*/ 158798 w 2028452"/>
                <a:gd name="connsiteY7" fmla="*/ 158796 h 2028451"/>
                <a:gd name="connsiteX8" fmla="*/ 158797 w 2028452"/>
                <a:gd name="connsiteY8" fmla="*/ 158797 h 2028451"/>
                <a:gd name="connsiteX9" fmla="*/ 542167 w 2028452"/>
                <a:gd name="connsiteY9" fmla="*/ 0 h 202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452" h="2028451">
                  <a:moveTo>
                    <a:pt x="542167" y="0"/>
                  </a:moveTo>
                  <a:cubicBezTo>
                    <a:pt x="680920" y="0"/>
                    <a:pt x="819672" y="52932"/>
                    <a:pt x="925537" y="158797"/>
                  </a:cubicBezTo>
                  <a:lnTo>
                    <a:pt x="1869655" y="1102916"/>
                  </a:lnTo>
                  <a:cubicBezTo>
                    <a:pt x="2081385" y="1314645"/>
                    <a:pt x="2081385" y="1657926"/>
                    <a:pt x="1869655" y="1869655"/>
                  </a:cubicBezTo>
                  <a:lnTo>
                    <a:pt x="1869654" y="1869655"/>
                  </a:lnTo>
                  <a:cubicBezTo>
                    <a:pt x="1657925" y="2081384"/>
                    <a:pt x="1314644" y="2081384"/>
                    <a:pt x="1102915" y="1869655"/>
                  </a:cubicBezTo>
                  <a:lnTo>
                    <a:pt x="158798" y="925536"/>
                  </a:lnTo>
                  <a:cubicBezTo>
                    <a:pt x="-52932" y="713807"/>
                    <a:pt x="-52932" y="370526"/>
                    <a:pt x="158798" y="158796"/>
                  </a:cubicBezTo>
                  <a:lnTo>
                    <a:pt x="158797" y="158797"/>
                  </a:lnTo>
                  <a:cubicBezTo>
                    <a:pt x="264662" y="52932"/>
                    <a:pt x="403415" y="0"/>
                    <a:pt x="54216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47" name="Group 14">
            <a:extLst>
              <a:ext uri="{FF2B5EF4-FFF2-40B4-BE49-F238E27FC236}">
                <a16:creationId xmlns:a16="http://schemas.microsoft.com/office/drawing/2014/main" id="{BEAB14DD-755D-A729-E51A-49B1855E8392}"/>
              </a:ext>
            </a:extLst>
          </p:cNvPr>
          <p:cNvGrpSpPr/>
          <p:nvPr/>
        </p:nvGrpSpPr>
        <p:grpSpPr>
          <a:xfrm>
            <a:off x="8211105" y="1803509"/>
            <a:ext cx="1892600" cy="1165721"/>
            <a:chOff x="9096378" y="1874706"/>
            <a:chExt cx="2257425" cy="1554294"/>
          </a:xfrm>
          <a:solidFill>
            <a:schemeClr val="bg2">
              <a:lumMod val="90000"/>
            </a:schemeClr>
          </a:solidFill>
        </p:grpSpPr>
        <p:sp>
          <p:nvSpPr>
            <p:cNvPr id="48" name="Rectangle: Rounded Corners 15">
              <a:extLst>
                <a:ext uri="{FF2B5EF4-FFF2-40B4-BE49-F238E27FC236}">
                  <a16:creationId xmlns:a16="http://schemas.microsoft.com/office/drawing/2014/main" id="{36F40CA8-9E00-9417-DC9B-E2AEA0AE8179}"/>
                </a:ext>
              </a:extLst>
            </p:cNvPr>
            <p:cNvSpPr/>
            <p:nvPr/>
          </p:nvSpPr>
          <p:spPr>
            <a:xfrm>
              <a:off x="9096378" y="2369310"/>
              <a:ext cx="2257424" cy="5664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9" name="Freeform: Shape 16">
              <a:extLst>
                <a:ext uri="{FF2B5EF4-FFF2-40B4-BE49-F238E27FC236}">
                  <a16:creationId xmlns:a16="http://schemas.microsoft.com/office/drawing/2014/main" id="{69EFFCAD-35B8-0406-BAF7-C202D88AB35D}"/>
                </a:ext>
              </a:extLst>
            </p:cNvPr>
            <p:cNvSpPr/>
            <p:nvPr/>
          </p:nvSpPr>
          <p:spPr>
            <a:xfrm>
              <a:off x="10294113" y="2369310"/>
              <a:ext cx="1059690" cy="1059690"/>
            </a:xfrm>
            <a:custGeom>
              <a:avLst/>
              <a:gdLst>
                <a:gd name="connsiteX0" fmla="*/ 158796 w 2028451"/>
                <a:gd name="connsiteY0" fmla="*/ 1869655 h 2028452"/>
                <a:gd name="connsiteX1" fmla="*/ 158796 w 2028451"/>
                <a:gd name="connsiteY1" fmla="*/ 1869655 h 2028452"/>
                <a:gd name="connsiteX2" fmla="*/ 158797 w 2028451"/>
                <a:gd name="connsiteY2" fmla="*/ 1869656 h 2028452"/>
                <a:gd name="connsiteX3" fmla="*/ 1486285 w 2028451"/>
                <a:gd name="connsiteY3" fmla="*/ 0 h 2028452"/>
                <a:gd name="connsiteX4" fmla="*/ 1869655 w 2028451"/>
                <a:gd name="connsiteY4" fmla="*/ 158797 h 2028452"/>
                <a:gd name="connsiteX5" fmla="*/ 1869654 w 2028451"/>
                <a:gd name="connsiteY5" fmla="*/ 158798 h 2028452"/>
                <a:gd name="connsiteX6" fmla="*/ 1869654 w 2028451"/>
                <a:gd name="connsiteY6" fmla="*/ 925538 h 2028452"/>
                <a:gd name="connsiteX7" fmla="*/ 925536 w 2028451"/>
                <a:gd name="connsiteY7" fmla="*/ 1869655 h 2028452"/>
                <a:gd name="connsiteX8" fmla="*/ 243847 w 2028451"/>
                <a:gd name="connsiteY8" fmla="*/ 1939129 h 2028452"/>
                <a:gd name="connsiteX9" fmla="*/ 158796 w 2028451"/>
                <a:gd name="connsiteY9" fmla="*/ 1869655 h 2028452"/>
                <a:gd name="connsiteX10" fmla="*/ 89323 w 2028451"/>
                <a:gd name="connsiteY10" fmla="*/ 1784605 h 2028452"/>
                <a:gd name="connsiteX11" fmla="*/ 158797 w 2028451"/>
                <a:gd name="connsiteY11" fmla="*/ 1102916 h 2028452"/>
                <a:gd name="connsiteX12" fmla="*/ 1102915 w 2028451"/>
                <a:gd name="connsiteY12" fmla="*/ 158797 h 2028452"/>
                <a:gd name="connsiteX13" fmla="*/ 1486285 w 2028451"/>
                <a:gd name="connsiteY13" fmla="*/ 0 h 202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8451" h="2028452">
                  <a:moveTo>
                    <a:pt x="158796" y="1869655"/>
                  </a:moveTo>
                  <a:lnTo>
                    <a:pt x="158796" y="1869655"/>
                  </a:lnTo>
                  <a:lnTo>
                    <a:pt x="158797" y="1869656"/>
                  </a:lnTo>
                  <a:close/>
                  <a:moveTo>
                    <a:pt x="1486285" y="0"/>
                  </a:moveTo>
                  <a:cubicBezTo>
                    <a:pt x="1625038" y="0"/>
                    <a:pt x="1763790" y="52933"/>
                    <a:pt x="1869655" y="158797"/>
                  </a:cubicBezTo>
                  <a:lnTo>
                    <a:pt x="1869654" y="158798"/>
                  </a:lnTo>
                  <a:cubicBezTo>
                    <a:pt x="2081384" y="370528"/>
                    <a:pt x="2081384" y="713808"/>
                    <a:pt x="1869654" y="925538"/>
                  </a:cubicBezTo>
                  <a:lnTo>
                    <a:pt x="925536" y="1869655"/>
                  </a:lnTo>
                  <a:cubicBezTo>
                    <a:pt x="740272" y="2054919"/>
                    <a:pt x="454291" y="2078076"/>
                    <a:pt x="243847" y="1939129"/>
                  </a:cubicBezTo>
                  <a:lnTo>
                    <a:pt x="158796" y="1869655"/>
                  </a:lnTo>
                  <a:lnTo>
                    <a:pt x="89323" y="1784605"/>
                  </a:lnTo>
                  <a:cubicBezTo>
                    <a:pt x="-49624" y="1574162"/>
                    <a:pt x="-26466" y="1288180"/>
                    <a:pt x="158797" y="1102916"/>
                  </a:cubicBezTo>
                  <a:lnTo>
                    <a:pt x="1102915" y="158797"/>
                  </a:lnTo>
                  <a:cubicBezTo>
                    <a:pt x="1208780" y="52933"/>
                    <a:pt x="1347533" y="0"/>
                    <a:pt x="148628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: Shape 17">
              <a:extLst>
                <a:ext uri="{FF2B5EF4-FFF2-40B4-BE49-F238E27FC236}">
                  <a16:creationId xmlns:a16="http://schemas.microsoft.com/office/drawing/2014/main" id="{78D0E784-6186-2E8C-6FF8-7586A71BBCBB}"/>
                </a:ext>
              </a:extLst>
            </p:cNvPr>
            <p:cNvSpPr/>
            <p:nvPr/>
          </p:nvSpPr>
          <p:spPr>
            <a:xfrm>
              <a:off x="10294112" y="1874706"/>
              <a:ext cx="1059690" cy="1059689"/>
            </a:xfrm>
            <a:custGeom>
              <a:avLst/>
              <a:gdLst>
                <a:gd name="connsiteX0" fmla="*/ 542167 w 2028452"/>
                <a:gd name="connsiteY0" fmla="*/ 0 h 2028451"/>
                <a:gd name="connsiteX1" fmla="*/ 925537 w 2028452"/>
                <a:gd name="connsiteY1" fmla="*/ 158797 h 2028451"/>
                <a:gd name="connsiteX2" fmla="*/ 1869655 w 2028452"/>
                <a:gd name="connsiteY2" fmla="*/ 1102916 h 2028451"/>
                <a:gd name="connsiteX3" fmla="*/ 1869655 w 2028452"/>
                <a:gd name="connsiteY3" fmla="*/ 1869655 h 2028451"/>
                <a:gd name="connsiteX4" fmla="*/ 1869654 w 2028452"/>
                <a:gd name="connsiteY4" fmla="*/ 1869655 h 2028451"/>
                <a:gd name="connsiteX5" fmla="*/ 1102915 w 2028452"/>
                <a:gd name="connsiteY5" fmla="*/ 1869655 h 2028451"/>
                <a:gd name="connsiteX6" fmla="*/ 158798 w 2028452"/>
                <a:gd name="connsiteY6" fmla="*/ 925536 h 2028451"/>
                <a:gd name="connsiteX7" fmla="*/ 158798 w 2028452"/>
                <a:gd name="connsiteY7" fmla="*/ 158796 h 2028451"/>
                <a:gd name="connsiteX8" fmla="*/ 158797 w 2028452"/>
                <a:gd name="connsiteY8" fmla="*/ 158797 h 2028451"/>
                <a:gd name="connsiteX9" fmla="*/ 542167 w 2028452"/>
                <a:gd name="connsiteY9" fmla="*/ 0 h 202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452" h="2028451">
                  <a:moveTo>
                    <a:pt x="542167" y="0"/>
                  </a:moveTo>
                  <a:cubicBezTo>
                    <a:pt x="680920" y="0"/>
                    <a:pt x="819672" y="52932"/>
                    <a:pt x="925537" y="158797"/>
                  </a:cubicBezTo>
                  <a:lnTo>
                    <a:pt x="1869655" y="1102916"/>
                  </a:lnTo>
                  <a:cubicBezTo>
                    <a:pt x="2081385" y="1314645"/>
                    <a:pt x="2081385" y="1657926"/>
                    <a:pt x="1869655" y="1869655"/>
                  </a:cubicBezTo>
                  <a:lnTo>
                    <a:pt x="1869654" y="1869655"/>
                  </a:lnTo>
                  <a:cubicBezTo>
                    <a:pt x="1657925" y="2081384"/>
                    <a:pt x="1314644" y="2081384"/>
                    <a:pt x="1102915" y="1869655"/>
                  </a:cubicBezTo>
                  <a:lnTo>
                    <a:pt x="158798" y="925536"/>
                  </a:lnTo>
                  <a:cubicBezTo>
                    <a:pt x="-52932" y="713807"/>
                    <a:pt x="-52932" y="370526"/>
                    <a:pt x="158798" y="158796"/>
                  </a:cubicBezTo>
                  <a:lnTo>
                    <a:pt x="158797" y="158797"/>
                  </a:lnTo>
                  <a:cubicBezTo>
                    <a:pt x="264662" y="52932"/>
                    <a:pt x="403415" y="0"/>
                    <a:pt x="54216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52" name="Rectangle: Rounded Corners 20">
            <a:extLst>
              <a:ext uri="{FF2B5EF4-FFF2-40B4-BE49-F238E27FC236}">
                <a16:creationId xmlns:a16="http://schemas.microsoft.com/office/drawing/2014/main" id="{EFB2FE1E-4C8C-A838-FFBD-1FCD75A3418A}"/>
              </a:ext>
            </a:extLst>
          </p:cNvPr>
          <p:cNvSpPr/>
          <p:nvPr/>
        </p:nvSpPr>
        <p:spPr>
          <a:xfrm>
            <a:off x="2011192" y="3294861"/>
            <a:ext cx="1892599" cy="2468258"/>
          </a:xfrm>
          <a:prstGeom prst="roundRect">
            <a:avLst>
              <a:gd name="adj" fmla="val 1946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Data Acquistion: </a:t>
            </a:r>
            <a:r>
              <a:rPr lang="pt-PT" sz="1600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NHTSA, DOE and EPA Datasets</a:t>
            </a:r>
          </a:p>
        </p:txBody>
      </p:sp>
      <p:sp>
        <p:nvSpPr>
          <p:cNvPr id="54" name="Rectangle: Rounded Corners 23">
            <a:extLst>
              <a:ext uri="{FF2B5EF4-FFF2-40B4-BE49-F238E27FC236}">
                <a16:creationId xmlns:a16="http://schemas.microsoft.com/office/drawing/2014/main" id="{1C16BA09-D04C-71E3-5F26-B706CDCC7999}"/>
              </a:ext>
            </a:extLst>
          </p:cNvPr>
          <p:cNvSpPr/>
          <p:nvPr/>
        </p:nvSpPr>
        <p:spPr>
          <a:xfrm>
            <a:off x="4075736" y="3294861"/>
            <a:ext cx="1892599" cy="2468258"/>
          </a:xfrm>
          <a:prstGeom prst="roundRect">
            <a:avLst>
              <a:gd name="adj" fmla="val 19465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Data Processing: </a:t>
            </a:r>
            <a:r>
              <a:rPr lang="pt-PT" sz="1600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Cleaning, normalize and schema alignment</a:t>
            </a:r>
          </a:p>
        </p:txBody>
      </p:sp>
      <p:sp>
        <p:nvSpPr>
          <p:cNvPr id="56" name="Rectangle: Rounded Corners 26">
            <a:extLst>
              <a:ext uri="{FF2B5EF4-FFF2-40B4-BE49-F238E27FC236}">
                <a16:creationId xmlns:a16="http://schemas.microsoft.com/office/drawing/2014/main" id="{349343DF-B6BA-354B-C569-58E16C136B0C}"/>
              </a:ext>
            </a:extLst>
          </p:cNvPr>
          <p:cNvSpPr/>
          <p:nvPr/>
        </p:nvSpPr>
        <p:spPr>
          <a:xfrm>
            <a:off x="6140280" y="3294861"/>
            <a:ext cx="1892599" cy="2468258"/>
          </a:xfrm>
          <a:prstGeom prst="roundRect">
            <a:avLst>
              <a:gd name="adj" fmla="val 1946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b="1" noProof="1">
                <a:solidFill>
                  <a:schemeClr val="tx1"/>
                </a:solidFill>
              </a:rPr>
              <a:t>Data Transformation:</a:t>
            </a:r>
          </a:p>
          <a:p>
            <a:pPr algn="ctr"/>
            <a:r>
              <a:rPr lang="pt-PT" sz="1600" noProof="1">
                <a:solidFill>
                  <a:schemeClr val="tx1"/>
                </a:solidFill>
              </a:rPr>
              <a:t>Aggregation, joining and feature creation</a:t>
            </a:r>
          </a:p>
        </p:txBody>
      </p:sp>
      <p:sp>
        <p:nvSpPr>
          <p:cNvPr id="58" name="Rectangle: Rounded Corners 29">
            <a:extLst>
              <a:ext uri="{FF2B5EF4-FFF2-40B4-BE49-F238E27FC236}">
                <a16:creationId xmlns:a16="http://schemas.microsoft.com/office/drawing/2014/main" id="{4C9DF5E1-1263-83E8-CBAE-AECAD5264905}"/>
              </a:ext>
            </a:extLst>
          </p:cNvPr>
          <p:cNvSpPr/>
          <p:nvPr/>
        </p:nvSpPr>
        <p:spPr>
          <a:xfrm>
            <a:off x="8204824" y="3294861"/>
            <a:ext cx="1892599" cy="2468258"/>
          </a:xfrm>
          <a:prstGeom prst="roundRect">
            <a:avLst>
              <a:gd name="adj" fmla="val 19465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400" b="1" noProof="1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Load Simulation &amp; Automation Layer:</a:t>
            </a:r>
          </a:p>
          <a:p>
            <a:pPr algn="ctr" defTabSz="685800">
              <a:defRPr/>
            </a:pPr>
            <a:r>
              <a:rPr lang="en-US" sz="1400" noProof="1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Loading simulation into Azure Delta Lake structure &amp; a simple simulated weekly orchestration</a:t>
            </a:r>
          </a:p>
        </p:txBody>
      </p:sp>
      <p:pic>
        <p:nvPicPr>
          <p:cNvPr id="59" name="Graphic 33" descr="Badge 1 outline">
            <a:extLst>
              <a:ext uri="{FF2B5EF4-FFF2-40B4-BE49-F238E27FC236}">
                <a16:creationId xmlns:a16="http://schemas.microsoft.com/office/drawing/2014/main" id="{9A1C5D74-1D2B-788F-63FE-4B028285C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8908" y="2163268"/>
            <a:ext cx="411728" cy="411728"/>
          </a:xfrm>
          <a:prstGeom prst="rect">
            <a:avLst/>
          </a:prstGeom>
        </p:spPr>
      </p:pic>
      <p:pic>
        <p:nvPicPr>
          <p:cNvPr id="60" name="Graphic 34" descr="Ethernet destaque">
            <a:extLst>
              <a:ext uri="{FF2B5EF4-FFF2-40B4-BE49-F238E27FC236}">
                <a16:creationId xmlns:a16="http://schemas.microsoft.com/office/drawing/2014/main" id="{277A271C-6358-2B9F-2328-ABFB2701AF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84178" y="2174911"/>
            <a:ext cx="363237" cy="363237"/>
          </a:xfrm>
          <a:prstGeom prst="rect">
            <a:avLst/>
          </a:prstGeom>
        </p:spPr>
      </p:pic>
      <p:pic>
        <p:nvPicPr>
          <p:cNvPr id="61" name="Graphic 36" descr="Lightbulb">
            <a:extLst>
              <a:ext uri="{FF2B5EF4-FFF2-40B4-BE49-F238E27FC236}">
                <a16:creationId xmlns:a16="http://schemas.microsoft.com/office/drawing/2014/main" id="{561C3132-6726-38F9-64D2-A6139B35879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99469" y="2212279"/>
            <a:ext cx="363237" cy="363237"/>
          </a:xfrm>
          <a:prstGeom prst="rect">
            <a:avLst/>
          </a:prstGeom>
        </p:spPr>
      </p:pic>
      <p:pic>
        <p:nvPicPr>
          <p:cNvPr id="62" name="Graphic 37" descr="Rocket">
            <a:extLst>
              <a:ext uri="{FF2B5EF4-FFF2-40B4-BE49-F238E27FC236}">
                <a16:creationId xmlns:a16="http://schemas.microsoft.com/office/drawing/2014/main" id="{1C461291-2435-5F34-B262-9DFC4D39779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5089" y="2174911"/>
            <a:ext cx="363237" cy="363237"/>
          </a:xfrm>
          <a:prstGeom prst="rect">
            <a:avLst/>
          </a:prstGeom>
        </p:spPr>
      </p:pic>
      <p:pic>
        <p:nvPicPr>
          <p:cNvPr id="63" name="Graphic 32" descr="Badge outline">
            <a:extLst>
              <a:ext uri="{FF2B5EF4-FFF2-40B4-BE49-F238E27FC236}">
                <a16:creationId xmlns:a16="http://schemas.microsoft.com/office/drawing/2014/main" id="{724CA882-DD14-BF71-7BBC-B0E0752DF7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55530" y="2157226"/>
            <a:ext cx="411728" cy="411728"/>
          </a:xfrm>
          <a:prstGeom prst="rect">
            <a:avLst/>
          </a:prstGeom>
        </p:spPr>
      </p:pic>
      <p:pic>
        <p:nvPicPr>
          <p:cNvPr id="64" name="Graphic 35" descr="Puzzle">
            <a:extLst>
              <a:ext uri="{FF2B5EF4-FFF2-40B4-BE49-F238E27FC236}">
                <a16:creationId xmlns:a16="http://schemas.microsoft.com/office/drawing/2014/main" id="{B40BAEA9-49CE-E067-8AB9-32C67F6D3E5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19634" y="2181472"/>
            <a:ext cx="363237" cy="363237"/>
          </a:xfrm>
          <a:prstGeom prst="rect">
            <a:avLst/>
          </a:prstGeom>
        </p:spPr>
      </p:pic>
      <p:pic>
        <p:nvPicPr>
          <p:cNvPr id="65" name="Graphic 31" descr="Badge 3 outline">
            <a:extLst>
              <a:ext uri="{FF2B5EF4-FFF2-40B4-BE49-F238E27FC236}">
                <a16:creationId xmlns:a16="http://schemas.microsoft.com/office/drawing/2014/main" id="{8D61AAB4-1AC2-16F7-697B-58B32A1CA2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18851" y="2153833"/>
            <a:ext cx="411728" cy="411728"/>
          </a:xfrm>
          <a:prstGeom prst="rect">
            <a:avLst/>
          </a:prstGeom>
        </p:spPr>
      </p:pic>
      <p:pic>
        <p:nvPicPr>
          <p:cNvPr id="66" name="Graphic 30" descr="Badge 4 outline">
            <a:extLst>
              <a:ext uri="{FF2B5EF4-FFF2-40B4-BE49-F238E27FC236}">
                <a16:creationId xmlns:a16="http://schemas.microsoft.com/office/drawing/2014/main" id="{DD7FA10A-F365-F4CB-E83A-193DF5B179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95165" y="2186548"/>
            <a:ext cx="411728" cy="411728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0DE0A1A-C000-C2A9-8D72-1519566DE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80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855E-9234-14D0-626C-1F3E7BB2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282241EB-3C20-EFB8-DF1F-47839A7996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D8883FB-EF48-6099-8760-69931E2D91AB}"/>
              </a:ext>
            </a:extLst>
          </p:cNvPr>
          <p:cNvSpPr/>
          <p:nvPr/>
        </p:nvSpPr>
        <p:spPr>
          <a:xfrm>
            <a:off x="718820" y="1358146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3AFB4-2F6F-3DF6-EBEA-CF42DA0C4F24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206E635A-57C6-A9F4-9260-2131326D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Sources</a:t>
            </a:r>
            <a:r>
              <a:rPr lang="en-ID" sz="4500" b="1" dirty="0"/>
              <a:t> </a:t>
            </a:r>
            <a:endParaRPr lang="en-ID" sz="45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C21E6-C562-70D0-2632-FFDB9C82A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1810" y="1515838"/>
            <a:ext cx="3396380" cy="1476839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4D0C4320-26BB-891A-385C-DACA49C12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6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D472470-1FFA-ED60-4A3A-48618B5CB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0A045E-CBA3-A083-379B-9C02B68E1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03843"/>
              </p:ext>
            </p:extLst>
          </p:nvPr>
        </p:nvGraphicFramePr>
        <p:xfrm>
          <a:off x="2844864" y="3180667"/>
          <a:ext cx="6502272" cy="264600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7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377">
                <a:tc>
                  <a:txBody>
                    <a:bodyPr/>
                    <a:lstStyle/>
                    <a:p>
                      <a:r>
                        <a:rPr sz="1400" dirty="0"/>
                        <a:t>Source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sz="1400"/>
                        <a:t>Format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sz="1400"/>
                        <a:t>Key Fields</a:t>
                      </a:r>
                    </a:p>
                  </a:txBody>
                  <a:tcPr marL="70677" marR="70677" marT="35338" marB="353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799">
                <a:tc>
                  <a:txBody>
                    <a:bodyPr/>
                    <a:lstStyle/>
                    <a:p>
                      <a:r>
                        <a:rPr sz="1400"/>
                        <a:t>NHTSA Complaints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sz="1400"/>
                        <a:t>TSV (bulk)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Make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Model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Year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Component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Crash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Fire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Injured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Deaths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Complaint ID</a:t>
                      </a:r>
                      <a:endParaRPr lang="en-US" sz="1400" dirty="0"/>
                    </a:p>
                  </a:txBody>
                  <a:tcPr marL="70677" marR="70677" marT="35338" marB="353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769">
                <a:tc>
                  <a:txBody>
                    <a:bodyPr/>
                    <a:lstStyle/>
                    <a:p>
                      <a:r>
                        <a:rPr sz="1400"/>
                        <a:t>DOE Alt Fuel Stations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sz="1400"/>
                        <a:t>API JSON→CSV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Fuel_Type_Code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Station_Name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State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Latitude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Longitude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400" dirty="0"/>
                    </a:p>
                  </a:txBody>
                  <a:tcPr marL="70677" marR="70677" marT="35338" marB="353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769">
                <a:tc>
                  <a:txBody>
                    <a:bodyPr/>
                    <a:lstStyle/>
                    <a:p>
                      <a:r>
                        <a:rPr sz="1400"/>
                        <a:t>EPA Fuel Economy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CSV (bulk)</a:t>
                      </a:r>
                    </a:p>
                  </a:txBody>
                  <a:tcPr marL="70677" marR="70677" marT="35338" marB="35338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Make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Model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Year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Fuel Type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MPG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CO2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Cylinders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Transmission</a:t>
                      </a:r>
                      <a:endParaRPr lang="en-US" sz="1400" dirty="0"/>
                    </a:p>
                  </a:txBody>
                  <a:tcPr marL="70677" marR="70677" marT="35338" marB="353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34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AF05F-657B-BC13-EAE3-E3C9805D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649F3936-9DA7-3F92-D0FF-CDCD7D4B52B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5B15728-EE4C-43F0-CA2C-6BCF2E66ACF5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38B9DA-768A-4B8E-EF47-0BA31CD0939A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8F55B6CE-B374-EB53-1E0B-E5925B86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Acquisition – Extract Phase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D45969E9-9BA8-A95C-3A75-398E2F68F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7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64D156D-6FCB-F2B1-9BA2-BD703ADCE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C8B2B-4844-6A95-99C6-F394150A5A2F}"/>
              </a:ext>
            </a:extLst>
          </p:cNvPr>
          <p:cNvSpPr/>
          <p:nvPr/>
        </p:nvSpPr>
        <p:spPr>
          <a:xfrm>
            <a:off x="1095535" y="1442985"/>
            <a:ext cx="5659828" cy="490634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b="1" dirty="0">
                <a:cs typeface="STIX Two Text" pitchFamily="2" charset="0"/>
                <a:sym typeface="+mn-ea"/>
              </a:rPr>
              <a:t>Single </a:t>
            </a:r>
            <a:r>
              <a:rPr lang="pt-PT" sz="1400" b="1" dirty="0" err="1">
                <a:cs typeface="STIX Two Text" pitchFamily="2" charset="0"/>
                <a:sym typeface="+mn-ea"/>
              </a:rPr>
              <a:t>Acquisition</a:t>
            </a:r>
            <a:r>
              <a:rPr lang="pt-PT" sz="1400" b="1" dirty="0">
                <a:cs typeface="STIX Two Text" pitchFamily="2" charset="0"/>
                <a:sym typeface="+mn-ea"/>
              </a:rPr>
              <a:t> Script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err="1">
                <a:cs typeface="STIX Two Text" pitchFamily="2" charset="0"/>
                <a:sym typeface="+mn-ea"/>
              </a:rPr>
              <a:t>acquire_data.py</a:t>
            </a:r>
            <a:r>
              <a:rPr lang="pt-PT" sz="1400" dirty="0">
                <a:cs typeface="STIX Two Text" pitchFamily="2" charset="0"/>
                <a:sym typeface="+mn-ea"/>
              </a:rPr>
              <a:t> downloads </a:t>
            </a:r>
            <a:r>
              <a:rPr lang="pt-PT" sz="1400" b="1" dirty="0" err="1">
                <a:cs typeface="STIX Two Text" pitchFamily="2" charset="0"/>
                <a:sym typeface="+mn-ea"/>
              </a:rPr>
              <a:t>all</a:t>
            </a:r>
            <a:r>
              <a:rPr lang="pt-PT" sz="1400" b="1" dirty="0">
                <a:cs typeface="STIX Two Text" pitchFamily="2" charset="0"/>
                <a:sym typeface="+mn-ea"/>
              </a:rPr>
              <a:t> </a:t>
            </a:r>
            <a:r>
              <a:rPr lang="pt-PT" sz="1400" b="1" dirty="0" err="1">
                <a:cs typeface="STIX Two Text" pitchFamily="2" charset="0"/>
                <a:sym typeface="+mn-ea"/>
              </a:rPr>
              <a:t>three</a:t>
            </a:r>
            <a:r>
              <a:rPr lang="pt-PT" sz="1400" b="1" dirty="0">
                <a:cs typeface="STIX Two Text" pitchFamily="2" charset="0"/>
                <a:sym typeface="+mn-ea"/>
              </a:rPr>
              <a:t> </a:t>
            </a:r>
            <a:r>
              <a:rPr lang="pt-PT" sz="1400" b="1" dirty="0" err="1">
                <a:cs typeface="STIX Two Text" pitchFamily="2" charset="0"/>
                <a:sym typeface="+mn-ea"/>
              </a:rPr>
              <a:t>sources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into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i="1" dirty="0">
                <a:cs typeface="STIX Two Text" pitchFamily="2" charset="0"/>
                <a:sym typeface="+mn-ea"/>
              </a:rPr>
              <a:t>data/</a:t>
            </a:r>
            <a:r>
              <a:rPr lang="pt-PT" sz="1400" i="1" dirty="0" err="1">
                <a:cs typeface="STIX Two Text" pitchFamily="2" charset="0"/>
                <a:sym typeface="+mn-ea"/>
              </a:rPr>
              <a:t>raw</a:t>
            </a:r>
            <a:endParaRPr lang="pt-PT" sz="1400" i="1" dirty="0">
              <a:cs typeface="STIX Two Text" pitchFamily="2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b="1" dirty="0">
                <a:cs typeface="STIX Two Text" pitchFamily="2" charset="0"/>
                <a:sym typeface="+mn-ea"/>
              </a:rPr>
              <a:t>EPA – Fuel </a:t>
            </a:r>
            <a:r>
              <a:rPr lang="pt-PT" sz="1400" b="1" dirty="0" err="1">
                <a:cs typeface="STIX Two Text" pitchFamily="2" charset="0"/>
                <a:sym typeface="+mn-ea"/>
              </a:rPr>
              <a:t>Economy</a:t>
            </a:r>
            <a:r>
              <a:rPr lang="pt-PT" sz="1400" b="1" dirty="0">
                <a:cs typeface="STIX Two Text" pitchFamily="2" charset="0"/>
                <a:sym typeface="+mn-ea"/>
              </a:rPr>
              <a:t> (</a:t>
            </a:r>
            <a:r>
              <a:rPr lang="pt-PT" sz="1400" b="1" dirty="0" err="1">
                <a:cs typeface="STIX Two Text" pitchFamily="2" charset="0"/>
                <a:sym typeface="+mn-ea"/>
              </a:rPr>
              <a:t>vehicles</a:t>
            </a:r>
            <a:r>
              <a:rPr lang="pt-PT" sz="1400" b="1" dirty="0">
                <a:cs typeface="STIX Two Text" pitchFamily="2" charset="0"/>
                <a:sym typeface="+mn-ea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cs typeface="STIX Two Text" pitchFamily="2" charset="0"/>
                <a:sym typeface="+mn-ea"/>
              </a:rPr>
              <a:t>Download ZIP </a:t>
            </a:r>
            <a:r>
              <a:rPr lang="pt-PT" sz="1400" dirty="0" err="1">
                <a:cs typeface="STIX Two Text" pitchFamily="2" charset="0"/>
                <a:sym typeface="+mn-ea"/>
              </a:rPr>
              <a:t>from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fueleconomy.gov</a:t>
            </a:r>
            <a:endParaRPr lang="pt-PT" sz="1400" dirty="0">
              <a:cs typeface="STIX Two Text" pitchFamily="2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cs typeface="STIX Two Text" pitchFamily="2" charset="0"/>
                <a:sym typeface="+mn-ea"/>
              </a:rPr>
              <a:t>Save as </a:t>
            </a:r>
            <a:r>
              <a:rPr lang="pt-PT" sz="1400" i="1" dirty="0">
                <a:cs typeface="STIX Two Text" pitchFamily="2" charset="0"/>
                <a:sym typeface="+mn-ea"/>
              </a:rPr>
              <a:t>data/</a:t>
            </a:r>
            <a:r>
              <a:rPr lang="pt-PT" sz="1400" i="1" dirty="0" err="1">
                <a:cs typeface="STIX Two Text" pitchFamily="2" charset="0"/>
                <a:sym typeface="+mn-ea"/>
              </a:rPr>
              <a:t>raw</a:t>
            </a:r>
            <a:r>
              <a:rPr lang="pt-PT" sz="1400" i="1" dirty="0">
                <a:cs typeface="STIX Two Text" pitchFamily="2" charset="0"/>
                <a:sym typeface="+mn-ea"/>
              </a:rPr>
              <a:t>/</a:t>
            </a:r>
            <a:r>
              <a:rPr lang="pt-PT" sz="1400" i="1" dirty="0" err="1">
                <a:cs typeface="STIX Two Text" pitchFamily="2" charset="0"/>
                <a:sym typeface="+mn-ea"/>
              </a:rPr>
              <a:t>vehicles.zip</a:t>
            </a:r>
            <a:r>
              <a:rPr lang="pt-PT" sz="1400" i="1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and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unzip</a:t>
            </a:r>
            <a:r>
              <a:rPr lang="pt-PT" sz="1400" dirty="0">
                <a:cs typeface="STIX Two Text" pitchFamily="2" charset="0"/>
                <a:sym typeface="+mn-ea"/>
              </a:rPr>
              <a:t> to </a:t>
            </a:r>
            <a:r>
              <a:rPr lang="pt-PT" sz="1400" i="1" dirty="0">
                <a:cs typeface="STIX Two Text" pitchFamily="2" charset="0"/>
                <a:sym typeface="+mn-ea"/>
              </a:rPr>
              <a:t>data/</a:t>
            </a:r>
            <a:r>
              <a:rPr lang="pt-PT" sz="1400" i="1" dirty="0" err="1">
                <a:cs typeface="STIX Two Text" pitchFamily="2" charset="0"/>
                <a:sym typeface="+mn-ea"/>
              </a:rPr>
              <a:t>raw</a:t>
            </a:r>
            <a:endParaRPr lang="pt-PT" sz="1400" i="1" dirty="0">
              <a:cs typeface="STIX Two Text" pitchFamily="2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b="1" dirty="0">
                <a:cs typeface="STIX Two Text" pitchFamily="2" charset="0"/>
                <a:sym typeface="+mn-ea"/>
              </a:rPr>
              <a:t>NHTSA – </a:t>
            </a:r>
            <a:r>
              <a:rPr lang="pt-PT" sz="1400" b="1" dirty="0" err="1">
                <a:cs typeface="STIX Two Text" pitchFamily="2" charset="0"/>
                <a:sym typeface="+mn-ea"/>
              </a:rPr>
              <a:t>Vehicles</a:t>
            </a:r>
            <a:r>
              <a:rPr lang="pt-PT" sz="1400" b="1" dirty="0">
                <a:cs typeface="STIX Two Text" pitchFamily="2" charset="0"/>
                <a:sym typeface="+mn-ea"/>
              </a:rPr>
              <a:t> </a:t>
            </a:r>
            <a:r>
              <a:rPr lang="pt-PT" sz="1400" b="1" dirty="0" err="1">
                <a:cs typeface="STIX Two Text" pitchFamily="2" charset="0"/>
                <a:sym typeface="+mn-ea"/>
              </a:rPr>
              <a:t>Complaints</a:t>
            </a:r>
            <a:r>
              <a:rPr lang="pt-PT" sz="1400" b="1" dirty="0">
                <a:cs typeface="STIX Two Text" pitchFamily="2" charset="0"/>
                <a:sym typeface="+mn-ea"/>
              </a:rPr>
              <a:t> (2020-2024)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cs typeface="STIX Two Text" pitchFamily="2" charset="0"/>
                <a:sym typeface="+mn-ea"/>
              </a:rPr>
              <a:t>Download ZIP </a:t>
            </a:r>
            <a:r>
              <a:rPr lang="pt-PT" sz="1400" dirty="0" err="1">
                <a:cs typeface="STIX Two Text" pitchFamily="2" charset="0"/>
                <a:sym typeface="+mn-ea"/>
              </a:rPr>
              <a:t>from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nhtsa.gov</a:t>
            </a:r>
            <a:endParaRPr lang="pt-PT" sz="1400" dirty="0">
              <a:cs typeface="STIX Two Text" pitchFamily="2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cs typeface="STIX Two Text" pitchFamily="2" charset="0"/>
                <a:sym typeface="+mn-ea"/>
              </a:rPr>
              <a:t>Save as </a:t>
            </a:r>
            <a:r>
              <a:rPr lang="pt-PT" sz="1400" i="1" dirty="0">
                <a:cs typeface="STIX Two Text" pitchFamily="2" charset="0"/>
                <a:sym typeface="+mn-ea"/>
              </a:rPr>
              <a:t>data/</a:t>
            </a:r>
            <a:r>
              <a:rPr lang="pt-PT" sz="1400" i="1" dirty="0" err="1">
                <a:cs typeface="STIX Two Text" pitchFamily="2" charset="0"/>
                <a:sym typeface="+mn-ea"/>
              </a:rPr>
              <a:t>raw</a:t>
            </a:r>
            <a:r>
              <a:rPr lang="pt-PT" sz="1400" i="1" dirty="0">
                <a:cs typeface="STIX Two Text" pitchFamily="2" charset="0"/>
                <a:sym typeface="+mn-ea"/>
              </a:rPr>
              <a:t>/complaints_2020-2024.zip </a:t>
            </a:r>
            <a:r>
              <a:rPr lang="pt-PT" sz="1400" dirty="0" err="1">
                <a:cs typeface="STIX Two Text" pitchFamily="2" charset="0"/>
                <a:sym typeface="+mn-ea"/>
              </a:rPr>
              <a:t>and</a:t>
            </a:r>
            <a:r>
              <a:rPr lang="pt-PT" sz="1400" dirty="0">
                <a:cs typeface="STIX Two Text" pitchFamily="2" charset="0"/>
                <a:sym typeface="+mn-ea"/>
              </a:rPr>
              <a:t> </a:t>
            </a:r>
            <a:r>
              <a:rPr lang="pt-PT" sz="1400" dirty="0" err="1">
                <a:cs typeface="STIX Two Text" pitchFamily="2" charset="0"/>
                <a:sym typeface="+mn-ea"/>
              </a:rPr>
              <a:t>unzip</a:t>
            </a:r>
            <a:r>
              <a:rPr lang="pt-PT" sz="1400" dirty="0">
                <a:cs typeface="STIX Two Text" pitchFamily="2" charset="0"/>
                <a:sym typeface="+mn-ea"/>
              </a:rPr>
              <a:t> to </a:t>
            </a:r>
            <a:r>
              <a:rPr lang="pt-PT" sz="1400" i="1" dirty="0">
                <a:cs typeface="STIX Two Text" pitchFamily="2" charset="0"/>
                <a:sym typeface="+mn-ea"/>
              </a:rPr>
              <a:t>data/</a:t>
            </a:r>
            <a:r>
              <a:rPr lang="pt-PT" sz="1400" i="1" dirty="0" err="1">
                <a:cs typeface="STIX Two Text" pitchFamily="2" charset="0"/>
                <a:sym typeface="+mn-ea"/>
              </a:rPr>
              <a:t>raw</a:t>
            </a:r>
            <a:endParaRPr lang="pt-PT" sz="1400" i="1" dirty="0">
              <a:cs typeface="STIX Two Text" pitchFamily="2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DOE – </a:t>
            </a:r>
            <a:r>
              <a:rPr lang="pt-PT" sz="1400" b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Alternative</a:t>
            </a:r>
            <a:r>
              <a:rPr lang="pt-PT" sz="14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Fuel Stations (NREL API)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Read</a:t>
            </a:r>
            <a:r>
              <a:rPr lang="pt-PT" sz="1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NREL_API_KEY </a:t>
            </a:r>
            <a:r>
              <a:rPr lang="pt-PT" sz="1400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from</a:t>
            </a:r>
            <a:r>
              <a:rPr lang="pt-PT" sz="1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sz="1400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r>
              <a:rPr lang="pt-PT" sz="1400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env</a:t>
            </a:r>
            <a:r>
              <a:rPr lang="pt-PT" sz="1400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sz="1400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using</a:t>
            </a:r>
            <a:r>
              <a:rPr lang="pt-PT" sz="1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sz="1400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python-dotenv</a:t>
            </a:r>
            <a:endParaRPr lang="pt-PT" sz="1400" i="1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Call</a:t>
            </a:r>
            <a:r>
              <a:rPr lang="pt-PT" sz="1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NREL API </a:t>
            </a:r>
            <a:r>
              <a:rPr lang="pt-PT" sz="1400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(</a:t>
            </a:r>
            <a:r>
              <a:rPr lang="pt-PT" sz="1400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</a:t>
            </a:r>
            <a:r>
              <a:rPr lang="pt-PT" sz="1400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-fuel-stations/v1.json?limit=</a:t>
            </a:r>
            <a:r>
              <a:rPr lang="pt-PT" sz="1400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all</a:t>
            </a:r>
            <a:r>
              <a:rPr lang="pt-PT" sz="14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Convert JSON → 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pandas.DataFrame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data/raw/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alt_fuel_stations.csv</a:t>
            </a:r>
            <a:endParaRPr lang="pt-PT" sz="1400" i="1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400" i="1" dirty="0">
              <a:cs typeface="STIX Two Text" pitchFamily="2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400" dirty="0">
              <a:cs typeface="STIX Two Text" pitchFamily="2" charset="0"/>
              <a:sym typeface="+mn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2D304-34F4-B28D-D205-FB57201F5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363" y="1325866"/>
            <a:ext cx="4086808" cy="17624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B98EC5-3749-0F27-74B7-499C2A5D5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191" y="3166625"/>
            <a:ext cx="2337151" cy="987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A047EC-B0C7-F5CD-B452-A6F44E709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878" y="4247259"/>
            <a:ext cx="4079293" cy="169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3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9C8A83-7FED-858A-EDE3-C1D1B1B0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3F89014F-CB90-9DD4-964D-C68735992F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1034443-F80B-C14F-06F3-B394FE8BE855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FA89C1-F1B7-8E9A-1A1E-6B64EC6A2CEB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001AB62-BFD5-FD95-5938-9702343B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Acquisition – Extract Phase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579EF82-48B5-CAD0-2B54-0781367B1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8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C8EB9BB-3ACC-1F67-F896-45E21215E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55B1AF-0669-DBDB-30F4-11FFA7D1F48F}"/>
              </a:ext>
            </a:extLst>
          </p:cNvPr>
          <p:cNvSpPr/>
          <p:nvPr/>
        </p:nvSpPr>
        <p:spPr>
          <a:xfrm>
            <a:off x="1378124" y="2061651"/>
            <a:ext cx="5221608" cy="254236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DOE – </a:t>
            </a:r>
            <a:r>
              <a:rPr lang="pt-PT" b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Alternative</a:t>
            </a: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Fuel Stations (NREL API)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Read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NREL_API_KEY </a:t>
            </a:r>
            <a:r>
              <a:rPr lang="pt-PT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from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r>
              <a:rPr lang="pt-PT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env</a:t>
            </a:r>
            <a:r>
              <a:rPr lang="pt-PT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using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pt-PT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python-dotenv</a:t>
            </a:r>
            <a:endParaRPr lang="pt-PT" i="1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Call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NREL API </a:t>
            </a:r>
            <a:r>
              <a:rPr lang="pt-PT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(</a:t>
            </a:r>
            <a:r>
              <a:rPr lang="pt-PT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</a:t>
            </a:r>
            <a:r>
              <a:rPr lang="pt-PT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-fuel-stations/v1.json?limit=</a:t>
            </a:r>
            <a:r>
              <a:rPr lang="pt-PT" i="1" dirty="0" err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all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Convert JSON →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pandas.DataFrame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data/raw/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alt_fuel_stations.csv</a:t>
            </a:r>
            <a:endParaRPr lang="pt-PT" i="1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C6522-FBEE-EE1A-72E0-52C7FB6FB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783" y="1909507"/>
            <a:ext cx="4079291" cy="519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63220-15C5-A91C-85A9-296953372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783" y="2432150"/>
            <a:ext cx="4079293" cy="1697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CD8C4-482C-32EA-F631-43F90B0CBE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783" y="4148294"/>
            <a:ext cx="4084934" cy="172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01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81F2BF-EEC3-33A2-9446-0E5AE427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8257CC3-FADE-1323-1634-759FC58835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A6AB0EF-165D-5FA4-7F42-20F39F1CF5C6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C937B-D749-7637-D393-CFF71830EEB1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387F9FBB-B265-D65F-66D3-0082B18E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8DC5607-BA7C-7E4C-EFB9-82D98BA7A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9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22D5D07-0D23-8279-D2CE-62E55FA9D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008673-CE82-C122-2936-D35C17370BFF}"/>
              </a:ext>
            </a:extLst>
          </p:cNvPr>
          <p:cNvSpPr/>
          <p:nvPr/>
        </p:nvSpPr>
        <p:spPr>
          <a:xfrm>
            <a:off x="1264459" y="2563162"/>
            <a:ext cx="5666919" cy="2492990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200" b="1" dirty="0"/>
              <a:t>Initial filtering &amp; basic cleaning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Load </a:t>
            </a:r>
            <a:r>
              <a:rPr lang="en-US" sz="1200" dirty="0" err="1"/>
              <a:t>vehicles.csv</a:t>
            </a:r>
            <a:r>
              <a:rPr lang="en-US" sz="1200" dirty="0"/>
              <a:t>, keep model years </a:t>
            </a:r>
            <a:r>
              <a:rPr lang="en-US" sz="1200" b="1" dirty="0"/>
              <a:t>≥ 2010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Drop rows missing year, make, or model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Require at least one MPG value (comb08 / city08 / highway08)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200" b="1" dirty="0"/>
              <a:t>Outlier &amp; quality filters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Remove comb08 = 0 (invalid MPG)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Cap comb08 at </a:t>
            </a:r>
            <a:r>
              <a:rPr lang="en-US" sz="1200" b="1" dirty="0"/>
              <a:t>≤ 200</a:t>
            </a:r>
            <a:r>
              <a:rPr lang="en-US" sz="1200" dirty="0"/>
              <a:t>, except for electric / “Electricity” entries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Remove vehicles from </a:t>
            </a:r>
            <a:r>
              <a:rPr lang="en-US" sz="1200" b="1" dirty="0"/>
              <a:t>future years</a:t>
            </a:r>
            <a:r>
              <a:rPr lang="en-US" sz="1200" dirty="0"/>
              <a:t> (greater than current year)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200" b="1" dirty="0"/>
              <a:t>Column reduction &amp; renaming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Reduce from 84 columns to a focused subset (year, make, model, class, engine, MPG, CO₂, etc.)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Keep fuelType1 and fuelType2 for dual-fuel handling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Rename to </a:t>
            </a:r>
            <a:r>
              <a:rPr lang="en-US" sz="1200" dirty="0" err="1"/>
              <a:t>primary_fuel</a:t>
            </a:r>
            <a:r>
              <a:rPr lang="en-US" sz="1200" dirty="0"/>
              <a:t> and </a:t>
            </a:r>
            <a:r>
              <a:rPr lang="en-US" sz="1200" dirty="0" err="1"/>
              <a:t>secondary_fuel</a:t>
            </a:r>
            <a:endParaRPr lang="en-US" sz="1200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D377F075-9CAC-B182-2BBF-69EA91F717C0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EPA Vehicles – Processing &amp; Dual-Fuel Handling</a:t>
            </a:r>
            <a:endParaRPr lang="en-ID" sz="20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0BB205-5386-4CB7-24C2-F69A05D61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581" y="2146535"/>
            <a:ext cx="4046871" cy="325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8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50DB-6C60-FB12-FA38-AC9F2DF7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9F1AEA96-A9AD-41FE-C970-0A4C48626F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1C6FBFA-A0F4-A241-405B-5328A8FED9F5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D17680-4FD7-E550-01AF-B60185BF7D5D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0AD91BC0-B3B6-6040-007E-340F3508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Shared Cleaning Principles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B12CFF01-BCFF-C13E-AFFF-DEA341212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10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E1ED023-8B0C-A5B9-C97E-A94D6CD36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B53B69-1C7B-A934-2209-4E898DEC77BE}"/>
              </a:ext>
            </a:extLst>
          </p:cNvPr>
          <p:cNvSpPr/>
          <p:nvPr/>
        </p:nvSpPr>
        <p:spPr>
          <a:xfrm>
            <a:off x="1264459" y="1813355"/>
            <a:ext cx="5666919" cy="3754874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Data quality goals: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Make each dataset consistent, recent and reliable for analysis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Ensure key fields are present (IDs, year/make/model, coordinates, dates)</a:t>
            </a:r>
          </a:p>
          <a:p>
            <a:r>
              <a:rPr lang="en-US" sz="1400" b="1" dirty="0"/>
              <a:t>Core cleaning rules: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Drop rows missing critical identifiers or dates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Normalise</a:t>
            </a:r>
            <a:r>
              <a:rPr lang="en-US" sz="1400" dirty="0"/>
              <a:t> text fields (trim, uppercase, consistent naming)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Parse numeric fields and dates into proper types</a:t>
            </a:r>
          </a:p>
          <a:p>
            <a:r>
              <a:rPr lang="en-US" sz="1400" b="1" dirty="0"/>
              <a:t>Outlier and scope filters: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Remove obviously invalid values (e.g. MPG (Miles Per Gallon) = 0, negative mileage, (0,0) coordinates)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Restrict to realistic, recent model years to keep the analysis current (2010+ for example in EPA)</a:t>
            </a:r>
          </a:p>
          <a:p>
            <a:r>
              <a:rPr lang="en-US" sz="1400" b="1" dirty="0"/>
              <a:t>Column reduction for analytics: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Reduce wide raw schemas to focused column sets per source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Standardise</a:t>
            </a:r>
            <a:r>
              <a:rPr lang="en-US" sz="1400" dirty="0"/>
              <a:t> column names across datasets (e.g. </a:t>
            </a:r>
            <a:r>
              <a:rPr lang="en-US" sz="1400" dirty="0" err="1"/>
              <a:t>primary_fuel</a:t>
            </a:r>
            <a:r>
              <a:rPr lang="en-US" sz="1400" dirty="0"/>
              <a:t> / </a:t>
            </a:r>
            <a:r>
              <a:rPr lang="en-US" sz="1400" dirty="0" err="1"/>
              <a:t>secondary_fuel</a:t>
            </a:r>
            <a:r>
              <a:rPr lang="en-US" sz="1400" dirty="0"/>
              <a:t>) to simplify joins later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77E269-7C63-F6EB-EC3F-92588B010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40" y="1954648"/>
            <a:ext cx="4046871" cy="325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6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4B22-3B0F-731F-1129-3E24B763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2D945733-0997-869D-626D-701A649BA2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C7A32D0-FED8-95DC-DA59-335E9059CF33}"/>
              </a:ext>
            </a:extLst>
          </p:cNvPr>
          <p:cNvSpPr/>
          <p:nvPr/>
        </p:nvSpPr>
        <p:spPr>
          <a:xfrm>
            <a:off x="652016" y="1225344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660D2E-AECD-4E93-4C2A-B07507B0344C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6DC90D1-67B8-3873-44B2-180935C9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5B4B7C9-3F61-5587-1DEE-C140477D3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11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F74403D-8B83-5665-5013-A4848B1F1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990994-5AF7-8901-10FA-7B50F28443A7}"/>
              </a:ext>
            </a:extLst>
          </p:cNvPr>
          <p:cNvSpPr/>
          <p:nvPr/>
        </p:nvSpPr>
        <p:spPr>
          <a:xfrm>
            <a:off x="3298604" y="2000297"/>
            <a:ext cx="5594790" cy="1384995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200" b="1" dirty="0"/>
              <a:t>Dual-fuel explosion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Identify vehicles with </a:t>
            </a:r>
            <a:r>
              <a:rPr lang="en-US" sz="1200" dirty="0" err="1"/>
              <a:t>secondary_fuel</a:t>
            </a:r>
            <a:r>
              <a:rPr lang="en-US" sz="1200" dirty="0"/>
              <a:t> not null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Build: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1200" dirty="0" err="1"/>
              <a:t>df_primary</a:t>
            </a:r>
            <a:r>
              <a:rPr lang="en-US" sz="1200" dirty="0"/>
              <a:t>: </a:t>
            </a:r>
            <a:r>
              <a:rPr lang="en-US" sz="1200" dirty="0" err="1"/>
              <a:t>fuel_used</a:t>
            </a:r>
            <a:r>
              <a:rPr lang="en-US" sz="1200" dirty="0"/>
              <a:t> = </a:t>
            </a:r>
            <a:r>
              <a:rPr lang="en-US" sz="1200" dirty="0" err="1"/>
              <a:t>primary_fuel</a:t>
            </a:r>
            <a:r>
              <a:rPr lang="en-US" sz="1200" dirty="0"/>
              <a:t>, </a:t>
            </a:r>
            <a:r>
              <a:rPr lang="en-US" sz="1200" dirty="0" err="1"/>
              <a:t>fuel_rank</a:t>
            </a:r>
            <a:r>
              <a:rPr lang="en-US" sz="1200" dirty="0"/>
              <a:t> = 1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sz="1200" dirty="0" err="1"/>
              <a:t>df_secondary</a:t>
            </a:r>
            <a:r>
              <a:rPr lang="en-US" sz="1200" dirty="0"/>
              <a:t>: </a:t>
            </a:r>
            <a:r>
              <a:rPr lang="en-US" sz="1200" dirty="0" err="1"/>
              <a:t>fuel_used</a:t>
            </a:r>
            <a:r>
              <a:rPr lang="en-US" sz="1200" dirty="0"/>
              <a:t> = </a:t>
            </a:r>
            <a:r>
              <a:rPr lang="en-US" sz="1200" dirty="0" err="1"/>
              <a:t>secondary_fuel</a:t>
            </a:r>
            <a:r>
              <a:rPr lang="en-US" sz="1200" dirty="0"/>
              <a:t>, </a:t>
            </a:r>
            <a:r>
              <a:rPr lang="en-US" sz="1200" dirty="0" err="1"/>
              <a:t>fuel_rank</a:t>
            </a:r>
            <a:r>
              <a:rPr lang="en-US" sz="1200" dirty="0"/>
              <a:t> = 2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Concatenate into final dataset: </a:t>
            </a:r>
            <a:r>
              <a:rPr lang="en-US" sz="1200" b="1" dirty="0"/>
              <a:t>rows represent vehicle–fuel combinations</a:t>
            </a:r>
            <a:endParaRPr lang="en-US" sz="1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200" dirty="0"/>
              <a:t>Save to </a:t>
            </a:r>
            <a:r>
              <a:rPr lang="en-US" sz="1200" i="1" dirty="0"/>
              <a:t>data/processed/</a:t>
            </a:r>
            <a:r>
              <a:rPr lang="en-US" sz="1200" i="1" dirty="0" err="1"/>
              <a:t>epa_vehicles_clean.csv</a:t>
            </a:r>
            <a:endParaRPr lang="en-US" sz="1200" i="1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70188B71-F824-8912-F15D-D62A260A74A0}"/>
              </a:ext>
            </a:extLst>
          </p:cNvPr>
          <p:cNvSpPr txBox="1">
            <a:spLocks/>
          </p:cNvSpPr>
          <p:nvPr/>
        </p:nvSpPr>
        <p:spPr>
          <a:xfrm>
            <a:off x="1860219" y="1309347"/>
            <a:ext cx="8186751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EPA Vehicles – Processing &amp; Dual-Fuel Handling (Biggest Decision)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234EF-F32F-FDCD-F179-2814C9584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805" y="3610856"/>
            <a:ext cx="3050752" cy="1984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A179F2-E575-C9DF-9938-13254CDA1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2102" y="3610856"/>
            <a:ext cx="1938667" cy="1984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A91C09-57F5-2E5E-CF4F-35BF3224A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314" y="3997741"/>
            <a:ext cx="4010382" cy="12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16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67541C-4E3A-3F01-DCCE-35058EE2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5D9DCD3-8EB4-5467-FC13-8848F25150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B9BF337-90BB-9343-2D49-37781461A7AE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BEA2DB-138F-07A1-F5F1-FC3E8F78E2F6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0B5ED105-0052-5B86-A02C-22C364EF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504CB9E-40A2-9C95-8286-3A8C927CB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12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5B10945-4E8F-B464-2F85-DD67B9A82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23B8E0-B898-64E8-FA41-B980160A7765}"/>
              </a:ext>
            </a:extLst>
          </p:cNvPr>
          <p:cNvSpPr/>
          <p:nvPr/>
        </p:nvSpPr>
        <p:spPr>
          <a:xfrm>
            <a:off x="1124794" y="1726989"/>
            <a:ext cx="5666919" cy="4401205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Raw file characteristics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Flat text file (.txt) with no header row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Tab-separated (\t)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Columns selected by </a:t>
            </a:r>
            <a:r>
              <a:rPr lang="en-US" sz="1400" b="1" dirty="0"/>
              <a:t>position</a:t>
            </a:r>
            <a:r>
              <a:rPr lang="en-US" sz="1400" dirty="0"/>
              <a:t> and renamed: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ODINO, CMPLID, MFGTXT, MAKETXT, MODELTXT, YEARTXT,</a:t>
            </a:r>
            <a:br>
              <a:rPr lang="en-US" sz="1400" dirty="0"/>
            </a:br>
            <a:r>
              <a:rPr lang="en-US" sz="1400" dirty="0"/>
              <a:t>CRASH, DATEA, FIRE, INJURED, DEATHS, COMPDESC, VIN, MILEAGE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Critical filters &amp; basic cleaning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Drop rows missing: ODINO, DATEA, YEARTXT, MAKETXT, MODELTXT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Parse DATEA (YYYYMMDD → datetime)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Convert YEARTXT to numeric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Outlier &amp; quality rules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Remove </a:t>
            </a:r>
            <a:r>
              <a:rPr lang="en-US" sz="1400" b="1" dirty="0"/>
              <a:t>future dates</a:t>
            </a:r>
            <a:r>
              <a:rPr lang="en-US" sz="1400" dirty="0"/>
              <a:t> and </a:t>
            </a:r>
            <a:r>
              <a:rPr lang="en-US" sz="1400" b="1" dirty="0"/>
              <a:t>future vehicle years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Cap MILEAGE at </a:t>
            </a:r>
            <a:r>
              <a:rPr lang="en-US" sz="1400" b="1" dirty="0"/>
              <a:t>≤ 1,000,000 miles</a:t>
            </a:r>
            <a:r>
              <a:rPr lang="en-US" sz="1400" dirty="0"/>
              <a:t> (data entry error filter)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Deduplication &amp; final formatting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Drop exact duplicates on ODINO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Convert DATEA back to YYYY-MM-DD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Cast YEARTXT to int and MILEAGE to nullable Int64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Save as </a:t>
            </a:r>
            <a:r>
              <a:rPr lang="en-US" sz="1400" i="1" dirty="0"/>
              <a:t>data/processed/</a:t>
            </a:r>
            <a:r>
              <a:rPr lang="en-US" sz="1400" i="1" dirty="0" err="1"/>
              <a:t>nhtsa_complaints_clean.csv</a:t>
            </a:r>
            <a:endParaRPr lang="en-US" sz="1400" i="1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8F48B14C-BF6E-8F23-33F2-6AF4CC12829C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NHTSA Complaints – Processing &amp; Cleaning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F9C7E-9755-90D2-899A-6B0B883E4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155" y="1838526"/>
            <a:ext cx="3645041" cy="191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18772-D5A4-9872-1F06-DB4D1694A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377" y="3895747"/>
            <a:ext cx="3141032" cy="20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20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0066-08BE-098C-1139-36D2DC6E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446A0EA-B05F-E838-3536-9D13BFB791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8FA9BEB-5DB4-B7CD-0293-890D64D5A372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F4CC1-04A2-1616-4342-D7F62D86CEE5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42E4E74-1057-31BB-BCCE-808DE45E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D9181B1-200B-54C7-7C65-BAF220B53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13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D365A58-2BBA-6A88-7625-2D2FA3748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CE5E09-A816-447A-ABD8-FB11E09C74F8}"/>
              </a:ext>
            </a:extLst>
          </p:cNvPr>
          <p:cNvSpPr/>
          <p:nvPr/>
        </p:nvSpPr>
        <p:spPr>
          <a:xfrm>
            <a:off x="1219082" y="2673227"/>
            <a:ext cx="5666919" cy="2246769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Raw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Tab-separated text file without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Selected key columns: IDs, make/model/year, crash flags, injuries/deaths, complaint text, mileage</a:t>
            </a:r>
          </a:p>
          <a:p>
            <a:r>
              <a:rPr lang="en-US" sz="1400" b="1" dirty="0"/>
              <a:t>Core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Dropped rows missing IDs, dates, or make/model/year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Parsed dates and converted years/mileage to numeric types</a:t>
            </a:r>
          </a:p>
          <a:p>
            <a:r>
              <a:rPr lang="en-US" sz="1400" b="1" dirty="0"/>
              <a:t>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Removed future dates/years and capped unrealistic mileage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De-duplicated by complaint ID and saved as </a:t>
            </a:r>
            <a:r>
              <a:rPr lang="en-US" sz="1400" i="1" dirty="0" err="1"/>
              <a:t>nhtsa_complaints_clean.csv</a:t>
            </a:r>
            <a:endParaRPr lang="en-US" sz="1400" i="1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EBBEAAA7-AC43-8F96-4FEE-6383347C65AE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NHTSA Complaints – Processing &amp; Cleaning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97460-0B1B-4928-F71A-B1AE2C509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155" y="1838526"/>
            <a:ext cx="3645041" cy="191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ED89D-3AB4-BB77-5CF5-2DCEB2729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377" y="3895747"/>
            <a:ext cx="3141032" cy="20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5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7548D5-0095-DDBF-4C0B-42DE13E0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B9F6C1D-5251-4CFC-7708-CA4913F8D1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D6BBE580-88E8-95B3-A203-A146DEE86497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D4A78E-E12F-D382-2D66-101EFD358441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9B127022-E7D8-D8C0-A9F0-E4790369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BF5F04A-BADC-7300-3B68-7D5C977E2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14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37916CE-3275-70AE-FEF9-082B8358B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CADD9F-8179-6B88-41D0-6A825F6FA929}"/>
              </a:ext>
            </a:extLst>
          </p:cNvPr>
          <p:cNvSpPr/>
          <p:nvPr/>
        </p:nvSpPr>
        <p:spPr>
          <a:xfrm>
            <a:off x="1124794" y="1726989"/>
            <a:ext cx="4670635" cy="4093428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300" b="1" dirty="0"/>
              <a:t>Raw data</a:t>
            </a:r>
            <a:endParaRPr lang="en-US" sz="1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Source: NREL “Alternative Fuel Stations” API → </a:t>
            </a:r>
            <a:r>
              <a:rPr lang="en-US" sz="1300" i="1" dirty="0" err="1"/>
              <a:t>alt_fuel_stations.csv</a:t>
            </a:r>
            <a:endParaRPr lang="en-US" sz="130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~76 columns per station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/>
              <a:t>Critical filters &amp; location sanity checks</a:t>
            </a:r>
            <a:endParaRPr lang="en-US" sz="1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Drop rows missing: latitude, longitude, </a:t>
            </a:r>
            <a:r>
              <a:rPr lang="en-US" sz="1300" dirty="0" err="1"/>
              <a:t>fuel_type_code</a:t>
            </a:r>
            <a:r>
              <a:rPr lang="en-US" sz="1300" dirty="0"/>
              <a:t>, </a:t>
            </a:r>
            <a:r>
              <a:rPr lang="en-US" sz="1300" dirty="0" err="1"/>
              <a:t>status_code</a:t>
            </a:r>
            <a:endParaRPr lang="en-US" sz="1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Remove coordinates outside assumed US bounds: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300" dirty="0"/>
              <a:t>Latitude between 18 and 72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300" dirty="0"/>
              <a:t>Longitude between –180 and –65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Remove exact (0, 0) coordinates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/>
              <a:t>Duplicates &amp; fuel-type filtering</a:t>
            </a:r>
            <a:endParaRPr lang="en-US" sz="1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Drop exact duplicates by NREL 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Keep only </a:t>
            </a:r>
            <a:r>
              <a:rPr lang="en-US" sz="1300" b="1" dirty="0"/>
              <a:t>alternative fuels</a:t>
            </a:r>
            <a:r>
              <a:rPr lang="en-US" sz="1300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300" dirty="0"/>
              <a:t>ELEC, LNG, CNG, BD, E85, HY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/>
              <a:t>Column reduction &amp; output</a:t>
            </a:r>
            <a:endParaRPr lang="en-US" sz="13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Reduce from ~76 columns to a focused subset: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300" dirty="0"/>
              <a:t>fuel type, station name, address, state, coordinates, status, access type, EV network info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300" dirty="0"/>
              <a:t>Save to </a:t>
            </a:r>
            <a:r>
              <a:rPr lang="en-US" sz="1300" i="1" dirty="0"/>
              <a:t>data/processed/</a:t>
            </a:r>
            <a:r>
              <a:rPr lang="en-US" sz="1300" i="1" dirty="0" err="1"/>
              <a:t>doe_fuel_stations_clean.csv</a:t>
            </a:r>
            <a:endParaRPr lang="en-US" sz="1300" i="1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C2118E02-3C6D-75BE-1AE1-DA4D75980EA7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DOE Fuel Stations – Processing &amp; Cleaning</a:t>
            </a:r>
            <a:endParaRPr lang="en-ID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18674E-452E-8768-0686-772A1AE02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429" y="2382283"/>
            <a:ext cx="2505040" cy="2747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EA41B-DB49-38FA-FA54-279059814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078" y="2382283"/>
            <a:ext cx="2314453" cy="274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06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9585-C9B8-8925-BA55-204B7603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43DA8453-317B-65F2-734C-0AF392AFAD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984E6BB-FC04-3F3A-42BD-9C0599A051B3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54ECFA-5110-ABDD-0494-8B5E36AA86B3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21E2B990-B933-599A-CC49-C5BFF34E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Processing – Cleaning &amp; Preparation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1AAF6423-2E14-54A3-AA42-3F294AED3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15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F88835B-59F3-D9F5-8DE6-687BFD996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D80A8F-E597-0CD1-254E-30F9FC62D778}"/>
              </a:ext>
            </a:extLst>
          </p:cNvPr>
          <p:cNvSpPr/>
          <p:nvPr/>
        </p:nvSpPr>
        <p:spPr>
          <a:xfrm>
            <a:off x="1115469" y="2382283"/>
            <a:ext cx="4670635" cy="2893100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NREL “Alternative Fuel Stations” API exported to CSV (~76 columns)</a:t>
            </a:r>
          </a:p>
          <a:p>
            <a:r>
              <a:rPr lang="en-US" sz="1400" b="1" dirty="0"/>
              <a:t>Location &amp; validity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Kept only rows with latitude, longitude, fuel type and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Removed out-of-bounds coordinates and (0, 0) points</a:t>
            </a:r>
          </a:p>
          <a:p>
            <a:r>
              <a:rPr lang="en-US" sz="1400" b="1" dirty="0"/>
              <a:t>Fuel types &amp;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Focused on alternative fuels (ELEC, LNG, CNG, BD, E85, HY)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Dropped duplicates and reduced to core station attributes</a:t>
            </a:r>
          </a:p>
          <a:p>
            <a:r>
              <a:rPr lang="en-US" sz="1400" dirty="0"/>
              <a:t>(fuel type, address, coordinates, status, access/network info)</a:t>
            </a:r>
          </a:p>
          <a:p>
            <a:r>
              <a:rPr lang="en-US" sz="1400" b="1" dirty="0"/>
              <a:t>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Saved as </a:t>
            </a:r>
            <a:r>
              <a:rPr lang="en-US" sz="1400" i="1" dirty="0" err="1"/>
              <a:t>doe_fuel_stations_clean.csv</a:t>
            </a:r>
            <a:r>
              <a:rPr lang="en-US" sz="1400" i="1" dirty="0"/>
              <a:t> </a:t>
            </a:r>
            <a:r>
              <a:rPr lang="en-US" sz="1400" dirty="0"/>
              <a:t>for integration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8F70A62F-ED27-CC57-08B9-F69B96FDC7EC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DOE Fuel Stations – Processing &amp; Cleaning</a:t>
            </a:r>
            <a:endParaRPr lang="en-ID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5C41A1-12BC-B7DA-F9B4-769110E49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429" y="2382283"/>
            <a:ext cx="2505040" cy="2747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5C2C94-76E9-BC0F-D360-44DB27959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078" y="2382283"/>
            <a:ext cx="2314453" cy="274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97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B455-9F4F-FE9C-42AC-1798C805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563D0FA0-E3D1-700D-C768-6E225E6867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8C1164F-50E6-6B2A-6A59-4B7480E94F9F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D3AE0-6AC5-74C0-D922-2E09E12981E1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AB224CB-D79C-D8BF-F591-84F9D270A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Integration &amp; Analytics Datasets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53735F3-00C0-57DA-35D5-6DBAD6F82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16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6D27AE5-B17D-400E-723A-336349A6B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09258E-832B-6F64-32F0-45D25C409C9D}"/>
              </a:ext>
            </a:extLst>
          </p:cNvPr>
          <p:cNvSpPr/>
          <p:nvPr/>
        </p:nvSpPr>
        <p:spPr>
          <a:xfrm>
            <a:off x="2025753" y="2114265"/>
            <a:ext cx="5626903" cy="2677656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Three cleaned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EPA → fuel economy &amp; vehicle specs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NHTSA → reliability &amp; safety (complaints)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DOE → fuel infrastructure (stations)</a:t>
            </a:r>
          </a:p>
          <a:p>
            <a:r>
              <a:rPr lang="en-US" sz="1400" b="1" dirty="0"/>
              <a:t>Why integrate?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Link efficiency ↔ complaints and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Link vehicle fuel types ↔ station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 from isolated datasets to end-to-end insights</a:t>
            </a:r>
          </a:p>
          <a:p>
            <a:r>
              <a:rPr lang="en-US" sz="1400" b="1" dirty="0"/>
              <a:t>Final analytical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Vehicle Complaints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Fuel Infrastructure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Comprehensive Vehicle Analysis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3A75512C-07C7-1CA6-1DDB-F7F1D08D2B5F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Why Integrate Datasets?</a:t>
            </a:r>
            <a:endParaRPr lang="en-ID" sz="2000" b="1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86F9A305-6FFC-9F0F-328A-605369C7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19279" y="2414873"/>
            <a:ext cx="3831896" cy="255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038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DFE36-1B2F-BAF4-7C8F-C5166814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F7637E3-0311-C151-E95A-3F24B3AB42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895FC8F-B8C4-E230-1A9F-7DA9507788FE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D8F380-DAB3-437A-0348-AB941216A9BC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6FBA5520-E400-2FBA-7026-6FD98831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Integration &amp; Analytics Datasets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5331233-9DCD-0B6E-D9A3-16C27E0EF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17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0D896D24-16DC-2136-02FE-BFF2AB0A2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13B1C8-B2AD-69D9-60DE-699D8D9DA143}"/>
              </a:ext>
            </a:extLst>
          </p:cNvPr>
          <p:cNvSpPr/>
          <p:nvPr/>
        </p:nvSpPr>
        <p:spPr>
          <a:xfrm>
            <a:off x="1637876" y="1724251"/>
            <a:ext cx="5107194" cy="4154984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1. </a:t>
            </a:r>
            <a:r>
              <a:rPr lang="en-US" sz="1200" b="1" dirty="0" err="1"/>
              <a:t>vehicle_complaints_analysis.csv</a:t>
            </a:r>
            <a:r>
              <a:rPr lang="en-US" sz="1200" b="1" dirty="0"/>
              <a:t> (EPA + NHTSA)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Normalize make / model (uppercase + trim)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Aggregate complaints per (year, make, model):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total_complaints</a:t>
            </a:r>
            <a:r>
              <a:rPr lang="en-US" sz="1200" dirty="0"/>
              <a:t>, </a:t>
            </a:r>
            <a:r>
              <a:rPr lang="en-US" sz="1200" dirty="0" err="1"/>
              <a:t>crash_incidents</a:t>
            </a:r>
            <a:r>
              <a:rPr lang="en-US" sz="1200" dirty="0"/>
              <a:t>, </a:t>
            </a:r>
            <a:r>
              <a:rPr lang="en-US" sz="1200" dirty="0" err="1"/>
              <a:t>fire_incidents</a:t>
            </a:r>
            <a:endParaRPr lang="en-US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total_injured</a:t>
            </a:r>
            <a:r>
              <a:rPr lang="en-US" sz="1200" dirty="0"/>
              <a:t>, </a:t>
            </a:r>
            <a:r>
              <a:rPr lang="en-US" sz="1200" dirty="0" err="1"/>
              <a:t>total_deaths</a:t>
            </a:r>
            <a:r>
              <a:rPr lang="en-US" sz="1200" dirty="0"/>
              <a:t>, </a:t>
            </a:r>
            <a:r>
              <a:rPr lang="en-US" sz="1200" dirty="0" err="1"/>
              <a:t>avg_complaint_mileage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Left join onto EPA vehicles (incl. dual-fuel expansion)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</a:t>
            </a:r>
            <a:r>
              <a:rPr lang="en-US" sz="1200" dirty="0" err="1"/>
              <a:t>vehicle_variants</a:t>
            </a:r>
            <a:r>
              <a:rPr lang="en-US" sz="1200" dirty="0"/>
              <a:t> = count of EPA rows per (year, make, model)</a:t>
            </a:r>
          </a:p>
          <a:p>
            <a:endParaRPr lang="en-US" sz="1200" dirty="0"/>
          </a:p>
          <a:p>
            <a:r>
              <a:rPr lang="en-US" sz="1200" b="1" dirty="0"/>
              <a:t>2. </a:t>
            </a:r>
            <a:r>
              <a:rPr lang="en-US" sz="1200" b="1" dirty="0" err="1"/>
              <a:t>fuel_infrastructure_analysis.csv</a:t>
            </a:r>
            <a:r>
              <a:rPr lang="en-US" sz="1200" b="1" dirty="0"/>
              <a:t> (EPA + DOE)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Map EPA </a:t>
            </a:r>
            <a:r>
              <a:rPr lang="en-US" sz="1200" dirty="0" err="1"/>
              <a:t>fuel_used</a:t>
            </a:r>
            <a:r>
              <a:rPr lang="en-US" sz="1200" dirty="0"/>
              <a:t> → DOE </a:t>
            </a:r>
            <a:r>
              <a:rPr lang="en-US" sz="1200" dirty="0" err="1"/>
              <a:t>fuel_type_code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Group by (year, </a:t>
            </a:r>
            <a:r>
              <a:rPr lang="en-US" sz="1200" dirty="0" err="1"/>
              <a:t>fuel_type_code</a:t>
            </a:r>
            <a:r>
              <a:rPr lang="en-US" sz="1200" dirty="0"/>
              <a:t>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vehicle_count</a:t>
            </a:r>
            <a:endParaRPr lang="en-US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average MPG (</a:t>
            </a:r>
            <a:r>
              <a:rPr lang="en-US" sz="1200" dirty="0" err="1"/>
              <a:t>avg_combined_mpg</a:t>
            </a:r>
            <a:r>
              <a:rPr lang="en-US" sz="1200" dirty="0"/>
              <a:t>, </a:t>
            </a:r>
            <a:r>
              <a:rPr lang="en-US" sz="1200" dirty="0" err="1"/>
              <a:t>avg_city_mpg</a:t>
            </a:r>
            <a:r>
              <a:rPr lang="en-US" sz="1200" dirty="0"/>
              <a:t>, </a:t>
            </a:r>
            <a:r>
              <a:rPr lang="en-US" sz="1200" dirty="0" err="1"/>
              <a:t>avg_highway_mpg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Aggregate DOE stations per </a:t>
            </a:r>
            <a:r>
              <a:rPr lang="en-US" sz="1200" dirty="0" err="1"/>
              <a:t>fuel_type_code</a:t>
            </a:r>
            <a:r>
              <a:rPr lang="en-US" sz="1200" dirty="0"/>
              <a:t> (nationwide)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Compute </a:t>
            </a:r>
            <a:r>
              <a:rPr lang="en-US" sz="1200" dirty="0" err="1"/>
              <a:t>vehicles_per_station</a:t>
            </a:r>
            <a:r>
              <a:rPr lang="en-US" sz="1200" dirty="0"/>
              <a:t> per fuel type and year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3. </a:t>
            </a:r>
            <a:r>
              <a:rPr lang="en-US" sz="1200" b="1" dirty="0" err="1"/>
              <a:t>comprehensive_vehicle_analysis.csv</a:t>
            </a:r>
            <a:r>
              <a:rPr lang="en-US" sz="1200" b="1" dirty="0"/>
              <a:t> (EPA + NHTSA + DOE)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Start from </a:t>
            </a:r>
            <a:r>
              <a:rPr lang="en-US" sz="1200" dirty="0" err="1"/>
              <a:t>vehicle_complaints_analysis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Map </a:t>
            </a:r>
            <a:r>
              <a:rPr lang="en-US" sz="1200" dirty="0" err="1"/>
              <a:t>fuel_used</a:t>
            </a:r>
            <a:r>
              <a:rPr lang="en-US" sz="1200" dirty="0"/>
              <a:t> → </a:t>
            </a:r>
            <a:r>
              <a:rPr lang="en-US" sz="1200" dirty="0" err="1"/>
              <a:t>fuel_type_code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Join DOE station counts (</a:t>
            </a:r>
            <a:r>
              <a:rPr lang="en-US" sz="1200" dirty="0" err="1"/>
              <a:t>stations_nationwide</a:t>
            </a:r>
            <a:r>
              <a:rPr lang="en-US" sz="1200" dirty="0"/>
              <a:t>) by </a:t>
            </a:r>
            <a:r>
              <a:rPr lang="en-US" sz="1200" dirty="0" err="1"/>
              <a:t>fuel_type_code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One row per vehicle × fuel combination, with: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fuel economy, complaints, and infrastructure together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B52B2EA2-1D74-EC0C-E0D8-EB0392804388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Coding Process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2CA89-3180-73F0-28C3-F890DBEFB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997" y="1691469"/>
            <a:ext cx="2333217" cy="2013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94DBD-7548-7333-7FE5-6112F9230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997" y="3911660"/>
            <a:ext cx="2333217" cy="18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53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2A93-15A8-420E-3858-B0183461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7ADB4C7B-A8FD-A208-BD44-4589C8E519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8469852-0DC6-B235-174E-C51674D5CD78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71860-138B-7C4A-5D8E-3135FD7F4E26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9B34D2A9-8DBF-D220-1A85-F43A2F5C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Integration &amp; Analytics Datasets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CCBD204-7F3B-9ABD-892C-89A87FE14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18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FC88C01-2300-308F-AB9A-9D81B9EEF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0BC302-5DF3-FF49-4FF5-400D4FFF5424}"/>
              </a:ext>
            </a:extLst>
          </p:cNvPr>
          <p:cNvSpPr/>
          <p:nvPr/>
        </p:nvSpPr>
        <p:spPr>
          <a:xfrm>
            <a:off x="1378124" y="2461065"/>
            <a:ext cx="5599146" cy="246221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1. </a:t>
            </a:r>
            <a:r>
              <a:rPr lang="en-US" sz="1400" b="1" dirty="0" err="1"/>
              <a:t>vehicle_complaints_analysis</a:t>
            </a:r>
            <a:r>
              <a:rPr lang="en-US" sz="1400" b="1" dirty="0"/>
              <a:t> (EPA + NHTSA)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Aggregate NHTSA complaints by year, make,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Metrics: complaints, crashes, injuries, deaths, avg mileage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Left join onto EPA vehicles (incl. dual-fuel) and add </a:t>
            </a:r>
            <a:r>
              <a:rPr lang="en-US" sz="1400" dirty="0" err="1"/>
              <a:t>vehicle_variants</a:t>
            </a:r>
            <a:endParaRPr lang="en-US" sz="1400" dirty="0"/>
          </a:p>
          <a:p>
            <a:r>
              <a:rPr lang="en-US" sz="1400" b="1" dirty="0"/>
              <a:t>2. </a:t>
            </a:r>
            <a:r>
              <a:rPr lang="en-US" sz="1400" b="1" dirty="0" err="1"/>
              <a:t>fuel_infrastructure_analysis</a:t>
            </a:r>
            <a:r>
              <a:rPr lang="en-US" sz="1400" b="1" dirty="0"/>
              <a:t> (EPA + DOE)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Map EPA </a:t>
            </a:r>
            <a:r>
              <a:rPr lang="en-US" sz="1400" dirty="0" err="1"/>
              <a:t>fuel_used</a:t>
            </a:r>
            <a:r>
              <a:rPr lang="en-US" sz="1400" dirty="0"/>
              <a:t> → DOE </a:t>
            </a:r>
            <a:r>
              <a:rPr lang="en-US" sz="1400" dirty="0" err="1"/>
              <a:t>fuel_type_code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Group by year &amp; fuel type: vehicle counts + average MPG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Join DOE station counts and compute </a:t>
            </a:r>
            <a:r>
              <a:rPr lang="en-US" sz="1400" dirty="0" err="1"/>
              <a:t>vehicles_per_station</a:t>
            </a:r>
            <a:endParaRPr lang="en-US" sz="1400" dirty="0"/>
          </a:p>
          <a:p>
            <a:r>
              <a:rPr lang="en-US" sz="1400" b="1" dirty="0"/>
              <a:t>3. </a:t>
            </a:r>
            <a:r>
              <a:rPr lang="en-US" sz="1400" b="1" dirty="0" err="1"/>
              <a:t>comprehensive_vehicle_analysis</a:t>
            </a:r>
            <a:r>
              <a:rPr lang="en-US" sz="1400" b="1" dirty="0"/>
              <a:t> (EPA + NHTSA + DOE)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Start from </a:t>
            </a:r>
            <a:r>
              <a:rPr lang="en-US" sz="1400" dirty="0" err="1"/>
              <a:t>vehicle_complaints_analysis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Join station metrics by fuel type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66AC862F-BA92-D655-63AB-F4DEC7DD4A0B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Coding Process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7D168-EB59-3FC1-F4B8-056BBB267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997" y="1691469"/>
            <a:ext cx="2333217" cy="2013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07879-C03C-852A-280E-D7548C613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997" y="3911660"/>
            <a:ext cx="2333217" cy="18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85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48F6-764F-F549-95DD-C8B6909EA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6A5B5F66-F68C-FABC-2D19-53C8320103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DFA7384-4793-5DF6-0D70-B6B171EAC169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EA7EC-5749-E37F-1757-E3C9CE508F12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88844DE1-A7CC-D58C-5581-4868AE6E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Loading – Databricks (Simulated)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8407693D-708B-9367-0880-A936438B0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19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188A14D-EF5D-4F13-F62B-22E2F0F9D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0988D3-D0FA-485F-9FE3-1DAFB959CC53}"/>
              </a:ext>
            </a:extLst>
          </p:cNvPr>
          <p:cNvSpPr/>
          <p:nvPr/>
        </p:nvSpPr>
        <p:spPr>
          <a:xfrm>
            <a:off x="1588583" y="2189525"/>
            <a:ext cx="5524736" cy="3539430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Expose the 3 integrated CSVs as Delta tables for analytics</a:t>
            </a:r>
          </a:p>
          <a:p>
            <a:r>
              <a:rPr lang="en-US" sz="1600" b="1" dirty="0"/>
              <a:t>Target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Catalog: </a:t>
            </a:r>
            <a:r>
              <a:rPr lang="en-US" sz="1600" dirty="0" err="1"/>
              <a:t>automotive_data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Schema: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vehicle_complaints_analysis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fuel_infrastructure_analysis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comprehensive_vehicle_analysis</a:t>
            </a:r>
            <a:endParaRPr lang="en-US" sz="1600" dirty="0"/>
          </a:p>
          <a:p>
            <a:r>
              <a:rPr lang="en-US" sz="1600" b="1" dirty="0"/>
              <a:t>Loading strategy (full refresh)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Overwrite tables on each run (CREATE OR REPLACE 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 data from staged CSV files (e.g. /</a:t>
            </a:r>
            <a:r>
              <a:rPr lang="en-US" sz="1600" dirty="0" err="1"/>
              <a:t>mnt</a:t>
            </a:r>
            <a:r>
              <a:rPr lang="en-US" sz="1600" dirty="0"/>
              <a:t>/staging/...)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Run OPTIMIZE and ANALYZE TABLE afterwards for compaction and stats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39FEE444-AAC6-7E61-D075-6215BD98E5A2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Simulation process</a:t>
            </a:r>
            <a:endParaRPr lang="en-ID" sz="2000" b="1" dirty="0"/>
          </a:p>
        </p:txBody>
      </p:sp>
      <p:pic>
        <p:nvPicPr>
          <p:cNvPr id="25602" name="Picture 2" descr="Loading vector illustration file download 50 percent internet cloud storage  graph with load text download arrow loading concept vector black line icon  on a white background | Premium Vector">
            <a:extLst>
              <a:ext uri="{FF2B5EF4-FFF2-40B4-BE49-F238E27FC236}">
                <a16:creationId xmlns:a16="http://schemas.microsoft.com/office/drawing/2014/main" id="{F0D6DD84-0223-3973-A815-6B71E3DF3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051483"/>
            <a:ext cx="3598223" cy="359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65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D580-D629-41A3-E984-102F7410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AA45421-0868-AC3C-17FA-53238981BCF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2059E52-BAC0-09FA-BEC3-F932C8BA28E1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EB3F4-26FA-3ACB-3E52-BEECB5F5966F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07D6F85A-5095-9A97-0DEA-29497034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Loading – Databricks (Simulated)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419CDB0C-994F-4006-1CEF-D3A65886B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20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6CD63A2-48AD-6293-FD40-3D0901CB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857212-676A-92DF-C4CE-45A60D39D8C8}"/>
              </a:ext>
            </a:extLst>
          </p:cNvPr>
          <p:cNvSpPr/>
          <p:nvPr/>
        </p:nvSpPr>
        <p:spPr>
          <a:xfrm>
            <a:off x="1378124" y="2559482"/>
            <a:ext cx="5087475" cy="206210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What the script actually does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Inspects CSV schema with pandas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Generates CREATE TABLE DDL dynamically from </a:t>
            </a:r>
            <a:r>
              <a:rPr lang="en-US" sz="1600" i="1" dirty="0" err="1"/>
              <a:t>dtypes</a:t>
            </a:r>
            <a:endParaRPr lang="en-US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Outputs SQL or </a:t>
            </a:r>
            <a:r>
              <a:rPr lang="en-US" sz="1600" dirty="0" err="1"/>
              <a:t>Pyspark</a:t>
            </a:r>
            <a:r>
              <a:rPr lang="en-US" sz="1600" dirty="0"/>
              <a:t> commands that would create and load Delta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Simulates optimization and shows record counts per table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2556EB5F-2124-4A8F-B9D4-16B9E4F41B98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Simulation process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04BF4-DBBA-9FE8-CDD7-CD39A9706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526" y="2064411"/>
            <a:ext cx="2859900" cy="32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3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6778-E539-0C65-A25D-3D4F0A96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96E0AC5-A718-B1F4-5F37-A4D95594D0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60254D1-8C55-0E0D-BA8E-B47DD7510233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F6A1D8-9886-F18F-DAAE-A5625AE75E73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F3A31FC1-990F-E52C-B944-3EAF959E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Data Loading – Databricks (Simulated)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4E09ED6-8AE1-2282-22C8-2FEA89B3A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21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A14BCAE-A7DB-50EE-2D03-0BDF6067C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27">
            <a:extLst>
              <a:ext uri="{FF2B5EF4-FFF2-40B4-BE49-F238E27FC236}">
                <a16:creationId xmlns:a16="http://schemas.microsoft.com/office/drawing/2014/main" id="{E2E17923-4756-4B6C-295F-8B846B0FF98F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Simulation process (code example)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8C466-4A32-A71B-82ED-23F0AE1E79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4535" y="2028695"/>
            <a:ext cx="2202507" cy="325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13A154-427F-D99B-D1D6-7DECA995A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1033" y="3339108"/>
            <a:ext cx="3653240" cy="544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066E12-5C24-B095-ED2B-CDD6D3A1FC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264" y="2039336"/>
            <a:ext cx="2488949" cy="32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48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A4B6-06DD-75C3-D2CD-5507380C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2F9B5B24-9F92-2BE7-0472-808C061B6E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716B873-DC50-0E5C-4D58-40DCF4BF7E62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D478D-9EF0-B4BD-9AC2-D2A589C33EF8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23ADF435-F510-7EE3-204F-FDD9BA0E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25E0B4D-3362-6DE1-84FB-BDBA879F3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22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B0A6305-0BC5-A9AA-D64B-E84F21D4B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E10144-E587-1A51-A33B-6F093A7EF7F5}"/>
              </a:ext>
            </a:extLst>
          </p:cNvPr>
          <p:cNvSpPr/>
          <p:nvPr/>
        </p:nvSpPr>
        <p:spPr>
          <a:xfrm>
            <a:off x="2726182" y="2159114"/>
            <a:ext cx="6787636" cy="3293209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Combine fuel efficiency and reliability into a single view</a:t>
            </a:r>
          </a:p>
          <a:p>
            <a:r>
              <a:rPr lang="en-US" sz="1600" b="1" dirty="0"/>
              <a:t>Questions answered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Are more efficient vehicles actually more reliable?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Which brands/models have the highest complaint rates?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Are EVs reporting fewer issues than gasoline cars?</a:t>
            </a:r>
          </a:p>
          <a:p>
            <a:r>
              <a:rPr lang="en-US" sz="1600" b="1" dirty="0"/>
              <a:t>Results (from this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clear correlation between fuel efficiency and complaint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EVs show ~71.7% fewer complaints per vehicle than gasoline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complaints per vehicle: Chrysler, Honda, Hyundai, Kia, Dodge</a:t>
            </a:r>
          </a:p>
          <a:p>
            <a:r>
              <a:rPr lang="en-US" sz="1600" b="1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Highlights safety &amp; reliability risks by brand and fuel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prioritize investigations and quality improvements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CF9E93E4-8867-536F-BBC1-4317D164F1B6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Vehicle Complaints Analysis (EPA + NHTSA)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3231935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404E-AB9A-E693-B459-5A75869B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4DD893D-2A76-4BED-225E-6A461196D2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6FAC8561-F56A-1452-A51B-0E331F94340B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F6950-BBD9-5B1F-8A1F-FD04BC5FE94D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9DE154B1-7BDE-3FFF-C1AA-0D46538C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CF7DF5FE-3A93-6197-B369-AAD34B753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23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764362B-F001-383C-D127-E5082BD4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5FE9AB-1BEB-72D1-34CA-24B2A8327F0D}"/>
              </a:ext>
            </a:extLst>
          </p:cNvPr>
          <p:cNvSpPr/>
          <p:nvPr/>
        </p:nvSpPr>
        <p:spPr>
          <a:xfrm>
            <a:off x="2726182" y="2159114"/>
            <a:ext cx="6787636" cy="338554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8A02F703-BCB8-FC29-7DC7-4A9E1F258790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Vehicle Complaints Analysis (EPA + NHTSA)</a:t>
            </a:r>
            <a:endParaRPr lang="en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2419D-E38B-18C0-2363-32201127E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7808" y="2066207"/>
            <a:ext cx="5978089" cy="325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7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FD8E6-7EAF-639B-7D65-9632AC49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94D21CB-60CA-053D-C1CD-98A8770B2B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2A7C37BF-13B7-D2ED-D83E-46092A8BADE1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5B8641-DEE6-56C4-E95F-BD18DF5048A1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330955-3E42-F97E-C52A-3DB5E666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9BE4CC3-CB57-C0D5-009D-23032EFD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24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51C232A-5E30-D047-49CE-BBCC1D3A9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7E4DFA-B02C-2C29-C22F-D70B82C20702}"/>
              </a:ext>
            </a:extLst>
          </p:cNvPr>
          <p:cNvSpPr/>
          <p:nvPr/>
        </p:nvSpPr>
        <p:spPr>
          <a:xfrm>
            <a:off x="2241865" y="1937622"/>
            <a:ext cx="7756269" cy="3785652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 vehicle counts (EPA) with national fuel station availability (DOE) to assess infrastructure readiness</a:t>
            </a:r>
          </a:p>
          <a:p>
            <a:r>
              <a:rPr lang="en-US" sz="1600" b="1" dirty="0"/>
              <a:t>Questions answered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Are alternative fuel vehicles supported by enough stations?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Which fuel types are most infrastructure-constrained, if any?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How many vehicles exist per station for each fuel type?</a:t>
            </a:r>
          </a:p>
          <a:p>
            <a:r>
              <a:rPr lang="en-US" sz="1600" b="1" dirty="0"/>
              <a:t>Results (from this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</a:t>
            </a:r>
            <a:r>
              <a:rPr lang="en-US" sz="1600" dirty="0" err="1"/>
              <a:t>analysed</a:t>
            </a:r>
            <a:r>
              <a:rPr lang="en-US" sz="1600" dirty="0"/>
              <a:t> alternative fuels (HY, BD, ELEC) sit comfortably above the minimum infrastructure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Electric infrastructure appears extremely dense – very low vehicles-per-station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Biodiesel and Hydrogen also show no signs of shortage in this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Indicates whether national infrastructure can support growth in alternative fuel vehicles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identify where additional infrastructure investment is – or isn’t – a priority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8DD6965D-B566-8A07-7AAC-74D2A8747D9C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Fuel Infrastructure Analysis (EPA + DOE)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3536617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3C81-CDE0-910E-3914-5534B22C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1A9DCEC-40C0-3E9A-B3D9-E30B24D340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EE22798-DC11-A685-78F0-1804A757C37E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476DC-FD80-A40F-8823-47BD974416D4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0BCEBC1D-89D2-248C-E84C-35BC62F0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CDEC777-9099-032D-9571-46D8493B5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25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07FADAB4-2399-686B-CD30-E98B86091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5FB8EE-683E-63E9-6C7A-CCAA02536D7F}"/>
              </a:ext>
            </a:extLst>
          </p:cNvPr>
          <p:cNvSpPr/>
          <p:nvPr/>
        </p:nvSpPr>
        <p:spPr>
          <a:xfrm>
            <a:off x="2726182" y="2159114"/>
            <a:ext cx="6787636" cy="338554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20E621DA-173F-4D5D-76BA-89BA132A7A52}"/>
              </a:ext>
            </a:extLst>
          </p:cNvPr>
          <p:cNvSpPr txBox="1">
            <a:spLocks/>
          </p:cNvSpPr>
          <p:nvPr/>
        </p:nvSpPr>
        <p:spPr>
          <a:xfrm>
            <a:off x="2702181" y="1262318"/>
            <a:ext cx="6787637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Fuel Infrastructure Analysis (EPA + DOE)</a:t>
            </a:r>
            <a:endParaRPr lang="en-ID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370EDC-709A-8CCB-01AB-BF98B22DCE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0600" y="2596609"/>
            <a:ext cx="7670800" cy="166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ED58-92DA-856D-06F3-DDB0DDCC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15AE9C1D-ECA2-E0CF-9D4F-B1EF7EAD74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40CB072-5973-9072-0A7E-17D6599FFBA7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A36E1-0E17-97A7-C0D0-9D6E7CFC0C1F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9228FFF-06EA-7CB3-7145-CB1C93C9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49F44A52-E584-9AE0-8F7F-0B9873F13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26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B9399F5-B2E0-9D7E-3BB3-3C56FD791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7F5A35-8953-E70A-26B0-10AD554C4CD4}"/>
              </a:ext>
            </a:extLst>
          </p:cNvPr>
          <p:cNvSpPr/>
          <p:nvPr/>
        </p:nvSpPr>
        <p:spPr>
          <a:xfrm>
            <a:off x="1378124" y="1683377"/>
            <a:ext cx="9605900" cy="4401205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Purpose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Provide an end-to-end view that combines fuel economy, reliability and infrastructure</a:t>
            </a:r>
          </a:p>
          <a:p>
            <a:r>
              <a:rPr lang="en-US" sz="1400" b="1" dirty="0"/>
              <a:t>Questions answered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Do vehicles with poorer infrastructure coverage receive more complaints?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Which vehicle classes best balance efficiency and reliability?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Are infrastructure gaps linked to worse customer experience?</a:t>
            </a:r>
          </a:p>
          <a:p>
            <a:r>
              <a:rPr lang="en-US" sz="1400" b="1" dirty="0"/>
              <a:t>Results (from this dataset)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Vehicles in poorly served infrastructure segments show ~2.5× more complaints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EVs stand out: low complaints combined with strong charging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Most efficient classes: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 Small Station Wagons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 Small SUVs 2WD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 Midsize Cars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Most reliable classes: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 Small Pickup Trucks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 Standard Pickup Trucks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 Cargo &amp; Passenger Vans</a:t>
            </a:r>
          </a:p>
          <a:p>
            <a:r>
              <a:rPr lang="en-US" sz="1400" b="1" dirty="0"/>
              <a:t>Business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Helps identify where customer experience is most at risk and where improving vehicle quality or infrastructure would have the biggest impact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E6AFF1DE-1678-689A-A3BC-BD81408C5176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Comprehensive Vehicle Analysis (EPA + NHTSA + DOE)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2023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CFB7-4BAC-14EC-00B5-CA7A6509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2E511CD-CA7C-45CD-9F2E-CDF3012CEF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CC62D1F-4899-3920-4819-242DFAB55F57}"/>
              </a:ext>
            </a:extLst>
          </p:cNvPr>
          <p:cNvSpPr/>
          <p:nvPr/>
        </p:nvSpPr>
        <p:spPr>
          <a:xfrm>
            <a:off x="843927" y="1233919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31D69-D6CA-06B0-3D22-F3FC0AA53DF3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40E098B6-B20F-A8AD-8EA9-0F53F670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Final Datasets Overview (Results)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E4FDFB5-692C-C17F-1B0C-43AA0602A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27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507EA68-F17D-5938-C4A6-E30C07BF9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27">
            <a:extLst>
              <a:ext uri="{FF2B5EF4-FFF2-40B4-BE49-F238E27FC236}">
                <a16:creationId xmlns:a16="http://schemas.microsoft.com/office/drawing/2014/main" id="{D6430757-B51E-CCD7-9A3E-EF50F2D041A5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Comprehensive Vehicle Analysis (EPA + NHTSA + DOE)</a:t>
            </a:r>
            <a:endParaRPr lang="en-ID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31D27-D251-A488-3D3B-59E80A597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4949" y="2098541"/>
            <a:ext cx="5622102" cy="33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81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367F-301C-3CFD-3610-0C720240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E6E34DA-D453-3E7F-698E-8ACB22AC72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975E4EA-975A-6F88-3E67-D9C842307CEB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A1731-6411-FCD5-23B2-BCAC40A0E27F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F50771C-2FE6-CA14-FEDF-46C7B5E4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Automation Overview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12772BF9-C454-2321-985F-63FF494AB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28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F4275EC-96E1-E58C-DBB9-B9F46998C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20EAA0-B71B-8836-3A60-2751391A6DDE}"/>
              </a:ext>
            </a:extLst>
          </p:cNvPr>
          <p:cNvSpPr/>
          <p:nvPr/>
        </p:nvSpPr>
        <p:spPr>
          <a:xfrm>
            <a:off x="1424558" y="2413337"/>
            <a:ext cx="4754618" cy="2031325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automated pipeline (Sunday 02:00)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Orchestrates entire 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Acquisition -&gt; Processing -&gt; Integration -&gt; Loading -&gt;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manual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fresh, validated data weekly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FC368036-1344-7C17-3C2C-F5A5E5CF6EA4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Pipeline Automation – Azure Data Factory</a:t>
            </a:r>
            <a:endParaRPr lang="en-ID" sz="2000" b="1" dirty="0"/>
          </a:p>
        </p:txBody>
      </p:sp>
      <p:pic>
        <p:nvPicPr>
          <p:cNvPr id="26626" name="Picture 2" descr="Data automation Vectors - Download Free High-Quality Vectors from Freepik |  Freepik">
            <a:extLst>
              <a:ext uri="{FF2B5EF4-FFF2-40B4-BE49-F238E27FC236}">
                <a16:creationId xmlns:a16="http://schemas.microsoft.com/office/drawing/2014/main" id="{B3745127-0F5C-C084-60F8-7FBF0D48B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158" y="2524746"/>
            <a:ext cx="3897036" cy="242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398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8165-E3B3-C101-A6CC-AFE33F53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823CBA3-B111-1895-63FA-57F83569F5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007B757-47DC-CBE6-FC55-8DC1D07F8922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3B59E-B8AE-1767-5BB1-F3F33CC83F00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6CBFAFA3-DFA2-8D7B-A7AC-0032DAAC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Automation Overview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21309D0-0193-6F22-83E4-24FB6C8B4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29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BA59264-D7E9-7CDC-2759-392DF2226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27B8E6-5C89-78A0-6930-A34603236A33}"/>
              </a:ext>
            </a:extLst>
          </p:cNvPr>
          <p:cNvSpPr/>
          <p:nvPr/>
        </p:nvSpPr>
        <p:spPr>
          <a:xfrm>
            <a:off x="1504071" y="2691633"/>
            <a:ext cx="4754618" cy="1754326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integration: Databricks + Storage +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pipeline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scheduling &amp;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Serverless (pay only when executing)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Durable &amp; scalable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9263B8A9-E8B1-414D-59DA-448827AF5686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Why Azure Data Factory</a:t>
            </a:r>
            <a:endParaRPr lang="en-ID" sz="2000" b="1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E2F3BCF4-0C30-558C-73E2-70E4445E1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51158" y="2764361"/>
            <a:ext cx="3897036" cy="194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892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AB52-C81D-EB24-4C1C-81AB85E1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335CA642-7E8C-430F-8945-8A322E5CE1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12D67C6-223A-8324-29E3-FD7AFA9B2AB3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D3F0F-8B94-2B39-7C9E-246C04FFD9DC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0D384D1-FA81-483C-73B9-23357509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Automation Overview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D131974-6E46-6626-FC5A-F0AE8A4BA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30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BD6C5B7-BF23-9DB2-1CFE-D7FFAC834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72DDC0-7A8B-5E47-62C5-5020E1FE1A9B}"/>
              </a:ext>
            </a:extLst>
          </p:cNvPr>
          <p:cNvSpPr/>
          <p:nvPr/>
        </p:nvSpPr>
        <p:spPr>
          <a:xfrm>
            <a:off x="1320233" y="1749850"/>
            <a:ext cx="5771037" cy="4247317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ADF pipeline – 5 main 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Ingest - Acquire raw data from EPA, NHTSA, DOE into the raw 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Clean &amp; enrich - Run processing scripts to create cleaned datasets per source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Integrate - Join sources and build the 3 analytical CSVs in the integrated 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to Delta - Create/replace the 3 Delta tables in </a:t>
            </a:r>
            <a:r>
              <a:rPr lang="en-US" dirty="0" err="1"/>
              <a:t>automotive_data.analytics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Validate &amp; notify - Run row-count &amp; schema checks and send a run summary</a:t>
            </a:r>
          </a:p>
          <a:p>
            <a:r>
              <a:rPr lang="en-US" b="1" dirty="0"/>
              <a:t>Failure </a:t>
            </a:r>
            <a:r>
              <a:rPr lang="en-US" b="1" dirty="0" err="1"/>
              <a:t>behaviour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step fails → downstream steps are skipped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ADF marks the pipeline as failed and sends an email/Teams alert with the error details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71467B98-2DF3-7308-A2CF-1EFACD66CD27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Process</a:t>
            </a:r>
            <a:endParaRPr lang="en-ID" sz="2000" b="1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2DF74138-AF46-0E82-E876-85B003707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91271" y="2705537"/>
            <a:ext cx="3897036" cy="194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698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1D9037-4AAE-CEFB-1704-87C61543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1D07E2A1-9BCD-25D6-90C0-F1D3ED2BDA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5D7F32FF-D6F1-A1D1-3949-3EED41E44D78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46056-7A28-4F93-9114-72890DCBAD19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5AEC596E-D033-4256-3B45-27CCCBEF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Automation Overview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8DC8DFE3-153D-8AB1-581E-B34436E05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31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4170C14-060D-EDBD-4B04-B936CDD98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EBA2F6-E39A-208C-5543-85A2E0B5B4DF}"/>
              </a:ext>
            </a:extLst>
          </p:cNvPr>
          <p:cNvSpPr/>
          <p:nvPr/>
        </p:nvSpPr>
        <p:spPr>
          <a:xfrm>
            <a:off x="1378124" y="3000185"/>
            <a:ext cx="4754618" cy="1754326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Key Components: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Linked Services: Databricks, ADLS,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Datasets: Raw → Processed → Integrated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Job Clusters: Auto-create &amp; auto-terminate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Validation: Row counts + type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BD985ABA-D09C-83CC-2331-D6F07BD9F95B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Why Azure Data Factory</a:t>
            </a:r>
            <a:endParaRPr lang="en-ID" sz="2000" b="1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45A7ADCC-EEF4-CC59-C972-AD20734B8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51158" y="2764361"/>
            <a:ext cx="3897036" cy="194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855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9644-ADE6-F815-78A5-A2320CA2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BCCAA58-DD49-9A47-661F-EF6EBAD42D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8FCABA2F-7B0A-8F58-A692-EEEF0563F6DA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B3225-F8BB-BF9D-5FC2-D00FA8AD00D0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6F665EC6-5DE6-1636-3199-46C1EB0F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Challenges Faced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1980B779-F2D4-D61E-3E93-6902B6AE4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32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B60F43E-C941-38F3-44FF-4C5972761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9D249B-48DC-C34F-935B-A6C417A2294F}"/>
              </a:ext>
            </a:extLst>
          </p:cNvPr>
          <p:cNvSpPr/>
          <p:nvPr/>
        </p:nvSpPr>
        <p:spPr>
          <a:xfrm>
            <a:off x="1365381" y="2241263"/>
            <a:ext cx="4754618" cy="3139321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b="1" dirty="0"/>
              <a:t>Vehicle Matching Across 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naming conventions (F150 vs F-150)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universal vehicle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Solution: Normalization + year/make/model join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Dual-Fuel Vehicles (Biggest Challenge)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Plug-in hybrids use two infrastructures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Solution: “Exploded rows” → one row per fuel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Accurate EV + gasoline demand</a:t>
            </a:r>
          </a:p>
        </p:txBody>
      </p:sp>
      <p:sp>
        <p:nvSpPr>
          <p:cNvPr id="23" name="Title 27">
            <a:extLst>
              <a:ext uri="{FF2B5EF4-FFF2-40B4-BE49-F238E27FC236}">
                <a16:creationId xmlns:a16="http://schemas.microsoft.com/office/drawing/2014/main" id="{27B13ADA-C9A2-A531-8CD3-5C5F2A8CBBE9}"/>
              </a:ext>
            </a:extLst>
          </p:cNvPr>
          <p:cNvSpPr txBox="1">
            <a:spLocks/>
          </p:cNvSpPr>
          <p:nvPr/>
        </p:nvSpPr>
        <p:spPr>
          <a:xfrm>
            <a:off x="2511338" y="1274659"/>
            <a:ext cx="7217323" cy="73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STIX Two Text" pitchFamily="2" charset="0"/>
                <a:ea typeface="+mj-ea"/>
                <a:cs typeface="+mj-cs"/>
              </a:defRPr>
            </a:lvl1pPr>
          </a:lstStyle>
          <a:p>
            <a:r>
              <a:rPr lang="en-US" sz="2000" b="1" dirty="0"/>
              <a:t>Top Challenges Faced</a:t>
            </a:r>
            <a:endParaRPr lang="en-ID" sz="2000" b="1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029E2FC9-B25A-B625-B924-583437760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8688" y="2349593"/>
            <a:ext cx="4185166" cy="294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280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8838-E662-1F35-3AD7-1620F2F6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82C8EEEF-BC70-F73D-E7AD-7FD82CBD90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" b="245"/>
          <a:stretch>
            <a:fillRect/>
          </a:stretch>
        </p:blipFill>
        <p:spPr>
          <a:xfrm>
            <a:off x="0" y="0"/>
            <a:ext cx="12240000" cy="6858000"/>
          </a:xfr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F36F177-6503-ED52-78BA-A8251B935057}"/>
              </a:ext>
            </a:extLst>
          </p:cNvPr>
          <p:cNvSpPr/>
          <p:nvPr/>
        </p:nvSpPr>
        <p:spPr>
          <a:xfrm>
            <a:off x="843927" y="1220655"/>
            <a:ext cx="10504146" cy="4916506"/>
          </a:xfrm>
          <a:prstGeom prst="roundRect">
            <a:avLst>
              <a:gd name="adj" fmla="val 7584"/>
            </a:avLst>
          </a:prstGeom>
          <a:solidFill>
            <a:schemeClr val="bg1"/>
          </a:solidFill>
          <a:ln>
            <a:noFill/>
          </a:ln>
          <a:effectLst>
            <a:outerShdw blurRad="317500" dist="762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79EC1-908B-E6CC-A66D-1DC9002B0BED}"/>
              </a:ext>
            </a:extLst>
          </p:cNvPr>
          <p:cNvSpPr/>
          <p:nvPr/>
        </p:nvSpPr>
        <p:spPr bwMode="auto">
          <a:xfrm>
            <a:off x="5040000" y="6202652"/>
            <a:ext cx="2160000" cy="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rtlCol="0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17877210-0AC8-2FBB-FEE5-5F78113A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972"/>
            <a:ext cx="12192000" cy="1325563"/>
          </a:xfrm>
        </p:spPr>
        <p:txBody>
          <a:bodyPr/>
          <a:lstStyle/>
          <a:p>
            <a:r>
              <a:rPr lang="en-ID" sz="3500" b="1" dirty="0"/>
              <a:t>Conclusion</a:t>
            </a:r>
            <a:endParaRPr lang="en-ID" sz="45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47B3A7C-0362-B970-68A3-6F44D8B2D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32F1B-FC76-4EE6-83A7-EA242D6E7603}" type="slidenum">
              <a:rPr lang="en-ID" smtClean="0"/>
              <a:t>33</a:t>
            </a:fld>
            <a:endParaRPr lang="en-ID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8F5A210-9B35-C144-7A5D-E51B10D56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76BD55-CAC8-D3EC-5BAC-528320FFFA99}"/>
              </a:ext>
            </a:extLst>
          </p:cNvPr>
          <p:cNvSpPr/>
          <p:nvPr/>
        </p:nvSpPr>
        <p:spPr>
          <a:xfrm>
            <a:off x="3088494" y="2613392"/>
            <a:ext cx="6063011" cy="1631216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End-to-end automated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Integrated data from EPA, NHTSA and DOE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Reliable Delta-ready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Insights on efficiency, reliability &amp;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Scalable foundation for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4723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r="695"/>
          <a:stretch>
            <a:fillRect/>
          </a:stretch>
        </p:blipFill>
        <p:spPr/>
      </p:pic>
      <p:sp>
        <p:nvSpPr>
          <p:cNvPr id="18" name="Rectangles 3"/>
          <p:cNvSpPr/>
          <p:nvPr/>
        </p:nvSpPr>
        <p:spPr>
          <a:xfrm>
            <a:off x="0" y="0"/>
            <a:ext cx="6851650" cy="685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>
                  <a:alpha val="50000"/>
                </a:schemeClr>
              </a:gs>
              <a:gs pos="58000">
                <a:schemeClr val="bg1">
                  <a:alpha val="70000"/>
                </a:schemeClr>
              </a:gs>
              <a:gs pos="100000">
                <a:schemeClr val="bg1"/>
              </a:gs>
            </a:gsLst>
            <a:lin ang="8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STIX Two Text" pitchFamily="2" charset="0"/>
              <a:cs typeface="STIX Two Text" pitchFamily="2" charset="0"/>
            </a:endParaRPr>
          </a:p>
        </p:txBody>
      </p:sp>
      <p:sp>
        <p:nvSpPr>
          <p:cNvPr id="19" name="Rounded Rectangle 10"/>
          <p:cNvSpPr/>
          <p:nvPr/>
        </p:nvSpPr>
        <p:spPr>
          <a:xfrm>
            <a:off x="718820" y="4638992"/>
            <a:ext cx="5095875" cy="59245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ID" altLang="en-US">
              <a:latin typeface="STIX Two Text" pitchFamily="2" charset="0"/>
              <a:cs typeface="STIX Two Text" pitchFamily="2" charset="0"/>
              <a:sym typeface="+mn-ea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718819" y="2387738"/>
            <a:ext cx="6132831" cy="584071"/>
          </a:xfrm>
        </p:spPr>
        <p:txBody>
          <a:bodyPr wrap="square">
            <a:spAutoFit/>
          </a:bodyPr>
          <a:lstStyle/>
          <a:p>
            <a:r>
              <a:rPr lang="en-ID" sz="3500" dirty="0"/>
              <a:t>Automotive Data Pipeline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718819" y="3147512"/>
            <a:ext cx="5876291" cy="763542"/>
          </a:xfrm>
        </p:spPr>
        <p:txBody>
          <a:bodyPr/>
          <a:lstStyle/>
          <a:p>
            <a:r>
              <a:rPr lang="en-ID" sz="3200" b="1" dirty="0"/>
              <a:t>Data Engineer - Assessment</a:t>
            </a:r>
          </a:p>
        </p:txBody>
      </p:sp>
      <p:sp>
        <p:nvSpPr>
          <p:cNvPr id="21" name="Text Box 15"/>
          <p:cNvSpPr txBox="1"/>
          <p:nvPr/>
        </p:nvSpPr>
        <p:spPr>
          <a:xfrm>
            <a:off x="1034415" y="4713922"/>
            <a:ext cx="4114165" cy="4250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sz="1900" b="1" dirty="0">
                <a:latin typeface="STIX Two Text" pitchFamily="2" charset="0"/>
                <a:cs typeface="STIX Two Text" pitchFamily="2" charset="0"/>
                <a:sym typeface="+mn-ea"/>
              </a:rPr>
              <a:t>Thank you very much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A7CC420-A2D8-34BB-1213-FA6AE7E37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24" y="294209"/>
            <a:ext cx="1647800" cy="3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0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25760</TotalTime>
  <Words>6485</Words>
  <Application>Microsoft Macintosh PowerPoint</Application>
  <PresentationFormat>Widescreen</PresentationFormat>
  <Paragraphs>499</Paragraphs>
  <Slides>34</Slides>
  <Notes>33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Aller</vt:lpstr>
      <vt:lpstr>Arial</vt:lpstr>
      <vt:lpstr>Calibri</vt:lpstr>
      <vt:lpstr>Intro Caps-Trial Rg</vt:lpstr>
      <vt:lpstr>STIX Two Text</vt:lpstr>
      <vt:lpstr>Office Theme</vt:lpstr>
      <vt:lpstr>Automotive Data Pipeline</vt:lpstr>
      <vt:lpstr>Contents</vt:lpstr>
      <vt:lpstr>Introduction</vt:lpstr>
      <vt:lpstr>Objectives</vt:lpstr>
      <vt:lpstr>Architecture &amp; Data Flow</vt:lpstr>
      <vt:lpstr>Data Sources </vt:lpstr>
      <vt:lpstr>Data Acquisition – Extract Phase</vt:lpstr>
      <vt:lpstr>Data Acquisition – Extract Phase</vt:lpstr>
      <vt:lpstr>Data Processing – Cleaning &amp; Preparation</vt:lpstr>
      <vt:lpstr>Data Processing – Shared Cleaning Principles</vt:lpstr>
      <vt:lpstr>Data Processing – Cleaning &amp; Preparation</vt:lpstr>
      <vt:lpstr>Data Processing – Cleaning &amp; Preparation</vt:lpstr>
      <vt:lpstr>Data Processing – Cleaning &amp; Preparation</vt:lpstr>
      <vt:lpstr>Data Processing – Cleaning &amp; Preparation</vt:lpstr>
      <vt:lpstr>Data Processing – Cleaning &amp; Preparation</vt:lpstr>
      <vt:lpstr>Data Integration &amp; Analytics Datasets</vt:lpstr>
      <vt:lpstr>Data Integration &amp; Analytics Datasets</vt:lpstr>
      <vt:lpstr>Data Integration &amp; Analytics Datasets</vt:lpstr>
      <vt:lpstr>Data Loading – Databricks (Simulated)</vt:lpstr>
      <vt:lpstr>Data Loading – Databricks (Simulated)</vt:lpstr>
      <vt:lpstr>Data Loading – Databricks (Simulated)</vt:lpstr>
      <vt:lpstr>Final Datasets Overview (Results)</vt:lpstr>
      <vt:lpstr>Final Datasets Overview (Results)</vt:lpstr>
      <vt:lpstr>Final Datasets Overview (Results)</vt:lpstr>
      <vt:lpstr>Final Datasets Overview (Results)</vt:lpstr>
      <vt:lpstr>Final Datasets Overview (Results)</vt:lpstr>
      <vt:lpstr>Final Datasets Overview (Results)</vt:lpstr>
      <vt:lpstr>Automation Overview</vt:lpstr>
      <vt:lpstr>Automation Overview</vt:lpstr>
      <vt:lpstr>Automation Overview</vt:lpstr>
      <vt:lpstr>Automation Overview</vt:lpstr>
      <vt:lpstr>Challenges Faced</vt:lpstr>
      <vt:lpstr>Conclusion</vt:lpstr>
      <vt:lpstr>Automotive Data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Fabio Nugraha</dc:creator>
  <cp:lastModifiedBy>Diogo Gomes</cp:lastModifiedBy>
  <cp:revision>430</cp:revision>
  <dcterms:created xsi:type="dcterms:W3CDTF">2022-12-06T03:06:00Z</dcterms:created>
  <dcterms:modified xsi:type="dcterms:W3CDTF">2025-11-23T10:57:21Z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037B25E5B31149EB83E293BE27301CAC</vt:lpwstr>
  </property>
  <property fmtid="{D5CDD505-2E9C-101B-9397-08002B2CF9AE}" pid="3" name="KSOProductBuildVer">
    <vt:lpwstr>1033-11.2.0.11417</vt:lpwstr>
  </property>
</Properties>
</file>